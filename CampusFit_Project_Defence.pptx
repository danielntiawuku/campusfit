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3"/>
  </p:notesMasterIdLst>
  <p:sldIdLst>
    <p:sldId id="258" r:id="rId3"/>
    <p:sldId id="259" r:id="rId4"/>
    <p:sldId id="260" r:id="rId5"/>
    <p:sldId id="261" r:id="rId6"/>
    <p:sldId id="262" r:id="rId7"/>
    <p:sldId id="263" r:id="rId8"/>
    <p:sldId id="264" r:id="rId9"/>
    <p:sldId id="265" r:id="rId10"/>
    <p:sldId id="266" r:id="rId11"/>
    <p:sldId id="25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2" autoAdjust="0"/>
    <p:restoredTop sz="94660"/>
  </p:normalViewPr>
  <p:slideViewPr>
    <p:cSldViewPr snapToGrid="0">
      <p:cViewPr varScale="1">
        <p:scale>
          <a:sx n="70" d="100"/>
          <a:sy n="70" d="100"/>
        </p:scale>
        <p:origin x="53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Greet the panel, state the project title and your details. One-line hook: CampusFit turns the campus itself into a fitness instrument. Preview the talk: problem, solution, objectives, system diagram, flow, challenges, conclusion - then the live demo.</a:t>
            </a:r>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the context. Students are among the least active populations and inactivity hits concentration, mental health and resilience. Two institutional responses exist - push-based campus campaigns and commercial step-counting apps - and neither fits campus life. Gamification works but is design-dependent. Close with the CampusFit thesis: make the campus the delivery mechanism.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four failure modes quickly: campaigns decay, apps ignore context, personal barriers persist, and the structural mismatch - institutions lack a delivery mechanism, apps lack the institution. Name the research gap, then read the core problem statement verbatim; it is the sentence every later slide answers.</a:t>
            </a:r>
          </a:p>
        </p:txBody>
      </p:sp>
      <p:sp>
        <p:nvSpPr>
          <p:cNvPr id="4" name="Slide Number Placeholder 3"/>
          <p:cNvSpPr>
            <a:spLocks noGrp="1"/>
          </p:cNvSpPr>
          <p:nvPr>
            <p:ph type="sldNum" sz="quarter" idx="5"/>
          </p:nvPr>
        </p:nvSpPr>
        <p:spPr/>
        <p:txBody>
          <a:bodyPr/>
          <a:lstStyle/>
          <a:p>
            <a:fld id="{F966F616-72DA-4E4B-BAA1-BBB42A78663A}" type="slidenum">
              <a:rPr lang="en-US" smtClean="0"/>
              <a:t>3</a:t>
            </a:fld>
            <a:endParaRPr lang="en-US"/>
          </a:p>
        </p:txBody>
      </p:sp>
    </p:spTree>
    <p:extLst>
      <p:ext uri="{BB962C8B-B14F-4D97-AF65-F5344CB8AC3E}">
        <p14:creationId xmlns:p14="http://schemas.microsoft.com/office/powerpoint/2010/main" val="4075142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Solution in one breath: an installable PWA plus printed QR signs plus a Supabase backend. Stress the key design decision - the client never holds reward authority. scan_checkpoint() validates, applies the 8-hour cooldown and difficulty multiplier, writes the append-only ledger and recomputes rollups in ONE transaction. Multipliers are non-linear on purpose (epic is worth more than double easy).</a:t>
            </a:r>
          </a:p>
        </p:txBody>
      </p:sp>
      <p:sp>
        <p:nvSpPr>
          <p:cNvPr id="4" name="Slide Number Placeholder 3"/>
          <p:cNvSpPr>
            <a:spLocks noGrp="1"/>
          </p:cNvSpPr>
          <p:nvPr>
            <p:ph type="sldNum" sz="quarter" idx="5"/>
          </p:nvPr>
        </p:nvSpPr>
        <p:spPr/>
        <p:txBody>
          <a:bodyPr/>
          <a:lstStyle/>
          <a:p>
            <a:fld id="{F966F616-72DA-4E4B-BAA1-BBB42A78663A}" type="slidenum">
              <a:rPr lang="en-US" smtClean="0"/>
              <a:t>4</a:t>
            </a:fld>
            <a:endParaRPr lang="en-US"/>
          </a:p>
        </p:txBody>
      </p:sp>
    </p:spTree>
    <p:extLst>
      <p:ext uri="{BB962C8B-B14F-4D97-AF65-F5344CB8AC3E}">
        <p14:creationId xmlns:p14="http://schemas.microsoft.com/office/powerpoint/2010/main" val="2044390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the general objective, then skim the ten specific objectives - note that each maps to evidence in the thesis: 3-4 to the scan RPC, 5 to the points algorithm, 6-7 to leaderboard and badges, 8 to the admin dashboard, 9-10 to the Chapter Five evaluation.</a:t>
            </a:r>
          </a:p>
        </p:txBody>
      </p:sp>
      <p:sp>
        <p:nvSpPr>
          <p:cNvPr id="4" name="Slide Number Placeholder 3"/>
          <p:cNvSpPr>
            <a:spLocks noGrp="1"/>
          </p:cNvSpPr>
          <p:nvPr>
            <p:ph type="sldNum" sz="quarter" idx="5"/>
          </p:nvPr>
        </p:nvSpPr>
        <p:spPr/>
        <p:txBody>
          <a:bodyPr/>
          <a:lstStyle/>
          <a:p>
            <a:fld id="{F966F616-72DA-4E4B-BAA1-BBB42A78663A}" type="slidenum">
              <a:rPr lang="en-US" smtClean="0"/>
              <a:t>5</a:t>
            </a:fld>
            <a:endParaRPr lang="en-US"/>
          </a:p>
        </p:txBody>
      </p:sp>
    </p:spTree>
    <p:extLst>
      <p:ext uri="{BB962C8B-B14F-4D97-AF65-F5344CB8AC3E}">
        <p14:creationId xmlns:p14="http://schemas.microsoft.com/office/powerpoint/2010/main" val="835231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the diagram left to right: physical tier (signs carrying one code string), client tier (presentation only), backend tier (auth, RLS, database functions). Point out the return arrow - the award comes back as data for display. Bottom strips: security model (no client authority, append-only ledger) and deployment (static bundle on Vercel, demo or connected mode from the same source).</a:t>
            </a:r>
          </a:p>
        </p:txBody>
      </p:sp>
      <p:sp>
        <p:nvSpPr>
          <p:cNvPr id="4" name="Slide Number Placeholder 3"/>
          <p:cNvSpPr>
            <a:spLocks noGrp="1"/>
          </p:cNvSpPr>
          <p:nvPr>
            <p:ph type="sldNum" sz="quarter" idx="5"/>
          </p:nvPr>
        </p:nvSpPr>
        <p:spPr/>
        <p:txBody>
          <a:bodyPr/>
          <a:lstStyle/>
          <a:p>
            <a:fld id="{F966F616-72DA-4E4B-BAA1-BBB42A78663A}" type="slidenum">
              <a:rPr lang="en-US" smtClean="0"/>
              <a:t>6</a:t>
            </a:fld>
            <a:endParaRPr lang="en-US"/>
          </a:p>
        </p:txBody>
      </p:sp>
    </p:spTree>
    <p:extLst>
      <p:ext uri="{BB962C8B-B14F-4D97-AF65-F5344CB8AC3E}">
        <p14:creationId xmlns:p14="http://schemas.microsoft.com/office/powerpoint/2010/main" val="4057616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Trace the worked example: a student scans LIB-A1. Reject paths first (unknown code, or cooldown inside 8 hours - no row is written), then the happy path: award = round(base x multiplier), one transaction writes scan + ledger, rollups recompute, badges evaluate, result returns to the UI. Emphasise every branch runs server-side.</a:t>
            </a:r>
          </a:p>
        </p:txBody>
      </p:sp>
      <p:sp>
        <p:nvSpPr>
          <p:cNvPr id="4" name="Slide Number Placeholder 3"/>
          <p:cNvSpPr>
            <a:spLocks noGrp="1"/>
          </p:cNvSpPr>
          <p:nvPr>
            <p:ph type="sldNum" sz="quarter" idx="5"/>
          </p:nvPr>
        </p:nvSpPr>
        <p:spPr/>
        <p:txBody>
          <a:bodyPr/>
          <a:lstStyle/>
          <a:p>
            <a:fld id="{F966F616-72DA-4E4B-BAA1-BBB42A78663A}" type="slidenum">
              <a:rPr lang="en-US" smtClean="0"/>
              <a:t>7</a:t>
            </a:fld>
            <a:endParaRPr lang="en-US"/>
          </a:p>
        </p:txBody>
      </p:sp>
    </p:spTree>
    <p:extLst>
      <p:ext uri="{BB962C8B-B14F-4D97-AF65-F5344CB8AC3E}">
        <p14:creationId xmlns:p14="http://schemas.microsoft.com/office/powerpoint/2010/main" val="20750725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candid about difficulty. Novelty decay is the dominant risk and is why content administration matters. Bearer codes are mitigated, not ignored (cooldown, registry, audit trail). Leaderboard design counteracts demotivation. Architecture constraints (no app server, offline-first) and the evaluation boundaries are stated honestly.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Conclusion: the six verified findings, each backed by Chapter Five - 29/29 routes, 9/9 end-to-end checks, fidelity 0.910, ~207 kB offline PWA, no high-severity usability defects, validated progression curve. Then the three recommendation audiences: practice, research, institutional policy.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page. Play the recorded walkthrough: sign-up and OTP, dashboard, scan of LIB-A1, points/streak/badges updating, weekly leaderboard, FitTrips and FitClips, admin dashboard. If playback fails, switch to the live app on Vercel - demo mode works without credentials.</a:t>
            </a:r>
          </a:p>
        </p:txBody>
      </p:sp>
      <p:sp>
        <p:nvSpPr>
          <p:cNvPr id="4" name="Slide Number Placeholder 3"/>
          <p:cNvSpPr>
            <a:spLocks noGrp="1"/>
          </p:cNvSpPr>
          <p:nvPr>
            <p:ph type="sldNum" sz="quarter" idx="5"/>
          </p:nvPr>
        </p:nvSpPr>
        <p:spPr/>
        <p:txBody>
          <a:bodyPr/>
          <a:lstStyle/>
          <a:p>
            <a:fld id="{F966F616-72DA-4E4B-BAA1-BBB42A78663A}" type="slidenum">
              <a:rPr lang="en-US" smtClean="0"/>
              <a:t>10</a:t>
            </a:fld>
            <a:endParaRPr lang="en-US"/>
          </a:p>
        </p:txBody>
      </p:sp>
    </p:spTree>
    <p:extLst>
      <p:ext uri="{BB962C8B-B14F-4D97-AF65-F5344CB8AC3E}">
        <p14:creationId xmlns:p14="http://schemas.microsoft.com/office/powerpoint/2010/main" val="12490029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10/7/2026</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10/7/2026</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lstStyle/>
          <a:p>
            <a:pPr eaLnBrk="1" hangingPunct="1"/>
            <a:r>
              <a:rPr lang="en-US" sz="2000" b="1" dirty="0">
                <a:solidFill>
                  <a:schemeClr val="bg1"/>
                </a:solidFill>
                <a:latin typeface="Times New Roman" panose="02020603050405020304" pitchFamily="18" charset="0"/>
                <a:ea typeface="Times New Roman" panose="02020603050405020304" pitchFamily="18" charset="0"/>
              </a:rPr>
              <a:t>FINAL YEAR PROJECT PRESENTATION &amp; DEMO</a:t>
            </a:r>
            <a:br>
              <a:rPr lang="en-GB" sz="2000" b="1" dirty="0">
                <a:solidFill>
                  <a:schemeClr val="bg1"/>
                </a:solidFill>
                <a:latin typeface="Times New Roman" panose="02020603050405020304" pitchFamily="18" charset="0"/>
                <a:ea typeface="Times New Roman" panose="02020603050405020304" pitchFamily="18" charset="0"/>
              </a:rPr>
            </a:b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1600200" y="1042218"/>
            <a:ext cx="8741664" cy="3895344"/>
          </a:xfrm>
        </p:spPr>
        <p:txBody>
          <a:bodyPr vert="horz" wrap="square" lIns="91440" tIns="45720" rIns="91440" bIns="45720" anchor="t" anchorCtr="0"/>
          <a:lstStyle/>
          <a:p>
            <a:pPr marL="0" indent="0" algn="ctr" eaLnBrk="1" hangingPunct="1">
              <a:lnSpc>
                <a:spcPct val="105000"/>
              </a:lnSpc>
              <a:spcBef>
                <a:spcPts val="0"/>
              </a:spcBef>
              <a:spcAft>
                <a:spcPts val="0"/>
              </a:spcAft>
              <a:buNone/>
            </a:pPr>
            <a:r>
              <a:rPr sz="4000" b="1" i="0" dirty="0" err="1">
                <a:solidFill>
                  <a:schemeClr val="bg1"/>
                </a:solidFill>
              </a:rPr>
              <a:t>CampusFit</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marL="0" indent="0" algn="ctr">
              <a:lnSpc>
                <a:spcPct val="105000"/>
              </a:lnSpc>
              <a:spcBef>
                <a:spcPts val="800"/>
              </a:spcBef>
              <a:spcAft>
                <a:spcPts val="0"/>
              </a:spcAft>
              <a:buNone/>
            </a:pPr>
            <a:r>
              <a:rPr sz="1800" b="0" i="0" dirty="0">
                <a:solidFill>
                  <a:srgbClr val="FFFFFF"/>
                </a:solidFill>
              </a:rPr>
              <a:t>A Gamified, Checkpoint-Based Campus Fitness Application</a:t>
            </a:r>
          </a:p>
          <a:p>
            <a:pPr marL="0" indent="0" algn="ctr">
              <a:lnSpc>
                <a:spcPct val="105000"/>
              </a:lnSpc>
              <a:spcBef>
                <a:spcPts val="2400"/>
              </a:spcBef>
              <a:spcAft>
                <a:spcPts val="0"/>
              </a:spcAft>
              <a:buNone/>
            </a:pPr>
            <a:r>
              <a:rPr lang="en-US" sz="1400" b="0" i="0" dirty="0">
                <a:solidFill>
                  <a:srgbClr val="FFFFFF"/>
                </a:solidFill>
              </a:rPr>
              <a:t>NAMES:  Selorm and Brian</a:t>
            </a:r>
          </a:p>
          <a:p>
            <a:pPr marL="0" indent="0" algn="ctr">
              <a:lnSpc>
                <a:spcPct val="105000"/>
              </a:lnSpc>
              <a:spcBef>
                <a:spcPts val="2400"/>
              </a:spcBef>
              <a:spcAft>
                <a:spcPts val="0"/>
              </a:spcAft>
              <a:buNone/>
            </a:pPr>
            <a:r>
              <a:rPr sz="1400" b="0" i="0" dirty="0">
                <a:solidFill>
                  <a:srgbClr val="FFFFFF"/>
                </a:solidFill>
              </a:rPr>
              <a:t>SUPERVISOR:  Dr. </a:t>
            </a:r>
            <a:r>
              <a:rPr lang="en-US" sz="1400" b="0" i="0">
                <a:solidFill>
                  <a:srgbClr val="FFFFFF"/>
                </a:solidFill>
              </a:rPr>
              <a:t>Edward-</a:t>
            </a:r>
            <a:r>
              <a:rPr lang="en-US" sz="1400">
                <a:solidFill>
                  <a:srgbClr val="FFFFFF"/>
                </a:solidFill>
              </a:rPr>
              <a:t>Danso </a:t>
            </a:r>
            <a:r>
              <a:rPr lang="en-US" sz="1400" b="0" i="0" dirty="0">
                <a:solidFill>
                  <a:srgbClr val="FFFFFF"/>
                </a:solidFill>
              </a:rPr>
              <a:t>Ansong </a:t>
            </a:r>
          </a:p>
          <a:p>
            <a:pPr marL="0" indent="0" algn="ctr">
              <a:lnSpc>
                <a:spcPct val="105000"/>
              </a:lnSpc>
              <a:spcBef>
                <a:spcPts val="2400"/>
              </a:spcBef>
              <a:spcAft>
                <a:spcPts val="0"/>
              </a:spcAft>
              <a:buNone/>
            </a:pPr>
            <a:r>
              <a:rPr sz="1300" b="0" i="0" dirty="0">
                <a:solidFill>
                  <a:srgbClr val="C9CFDA"/>
                </a:solidFill>
              </a:rPr>
              <a:t>DEPARTMENT OF COMPUTER SCIENCE</a:t>
            </a:r>
          </a:p>
          <a:p>
            <a:pPr marL="0" indent="0" algn="ctr">
              <a:lnSpc>
                <a:spcPct val="105000"/>
              </a:lnSpc>
              <a:spcBef>
                <a:spcPts val="200"/>
              </a:spcBef>
              <a:spcAft>
                <a:spcPts val="0"/>
              </a:spcAft>
              <a:buNone/>
            </a:pPr>
            <a:r>
              <a:rPr sz="1300" b="0" i="0" dirty="0">
                <a:solidFill>
                  <a:srgbClr val="C9CFDA"/>
                </a:solidFill>
              </a:rPr>
              <a:t>UNIVERSITY OF GHANA</a:t>
            </a:r>
          </a:p>
          <a:p>
            <a:pPr marL="0" indent="0" algn="ctr">
              <a:lnSpc>
                <a:spcPct val="105000"/>
              </a:lnSpc>
              <a:spcBef>
                <a:spcPts val="200"/>
              </a:spcBef>
              <a:spcAft>
                <a:spcPts val="0"/>
              </a:spcAft>
              <a:buNone/>
            </a:pPr>
            <a:r>
              <a:rPr sz="1300" b="0" i="0" dirty="0">
                <a:solidFill>
                  <a:srgbClr val="C9CFDA"/>
                </a:solidFill>
              </a:rPr>
              <a:t>OCTOBER 2026</a:t>
            </a:r>
          </a:p>
        </p: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10/7/2026</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solidFill>
                  <a:schemeClr val="bg1"/>
                </a:solidFill>
                <a:latin typeface="Times New Roman" panose="02020603050405020304" pitchFamily="18" charset="0"/>
                <a:ea typeface="Times New Roman" panose="02020603050405020304" pitchFamily="18" charset="0"/>
                <a:sym typeface="+mn-ea"/>
              </a:rPr>
              <a:t>Introduction</a:t>
            </a:r>
            <a:endParaRPr lang="en-US" dirty="0"/>
          </a:p>
        </p:txBody>
      </p:sp>
      <p:sp>
        <p:nvSpPr>
          <p:cNvPr id="3" name="Content Placeholder 2"/>
          <p:cNvSpPr>
            <a:spLocks noGrp="1"/>
          </p:cNvSpPr>
          <p:nvPr>
            <p:ph idx="1"/>
          </p:nvPr>
        </p:nvSpPr>
        <p:spPr>
          <a:xfrm>
            <a:off x="612648" y="1600200"/>
            <a:ext cx="10972800" cy="4526280"/>
          </a:xfrm>
        </p:spPr>
        <p:txBody>
          <a:bodyPr wrap="square"/>
          <a:lstStyle/>
          <a:p>
            <a:pPr marL="342900" indent="-342900" algn="l">
              <a:lnSpc>
                <a:spcPct val="100000"/>
              </a:lnSpc>
              <a:spcBef>
                <a:spcPts val="600"/>
              </a:spcBef>
              <a:spcAft>
                <a:spcPts val="0"/>
              </a:spcAft>
              <a:buFont typeface="Arial"/>
              <a:buChar char="•"/>
            </a:pPr>
            <a:r>
              <a:rPr sz="2000" b="0" i="0" dirty="0">
                <a:solidFill>
                  <a:srgbClr val="1A1A1A"/>
                </a:solidFill>
              </a:rPr>
              <a:t>Physical inactivity among university students is rising — sedentary academic routines, prolonged screen time and weak exercise habits (Edelmann et al., 2022).</a:t>
            </a:r>
            <a:endParaRPr lang="en-US" sz="3600" dirty="0">
              <a:latin typeface="Times New Roman" panose="02020603050405020304" pitchFamily="18" charset="0"/>
              <a:cs typeface="Times New Roman" panose="02020603050405020304" pitchFamily="18" charset="0"/>
            </a:endParaRPr>
          </a:p>
          <a:p>
            <a:pPr marL="342900" indent="-342900" algn="l">
              <a:lnSpc>
                <a:spcPct val="100000"/>
              </a:lnSpc>
              <a:spcBef>
                <a:spcPts val="600"/>
              </a:spcBef>
              <a:spcAft>
                <a:spcPts val="0"/>
              </a:spcAft>
              <a:buFont typeface="Arial"/>
              <a:buChar char="•"/>
            </a:pPr>
            <a:r>
              <a:rPr sz="2000" b="0" i="0" dirty="0">
                <a:solidFill>
                  <a:srgbClr val="1A1A1A"/>
                </a:solidFill>
              </a:rPr>
              <a:t>Activity improves concentration, memory, mental health and resilience; the WHO advises regular moderate activity every week (Loprinzi, 2019; WHO, 2020).</a:t>
            </a:r>
          </a:p>
          <a:p>
            <a:pPr marL="342900" indent="-342900" algn="l">
              <a:lnSpc>
                <a:spcPct val="100000"/>
              </a:lnSpc>
              <a:spcBef>
                <a:spcPts val="600"/>
              </a:spcBef>
              <a:spcAft>
                <a:spcPts val="0"/>
              </a:spcAft>
              <a:buFont typeface="Arial"/>
              <a:buChar char="•"/>
            </a:pPr>
            <a:r>
              <a:rPr sz="2000" b="0" i="0" dirty="0">
                <a:solidFill>
                  <a:srgbClr val="1A1A1A"/>
                </a:solidFill>
              </a:rPr>
              <a:t>Students report low motivation, weak accountability, time pressure and few engaging campus-based options (</a:t>
            </a:r>
            <a:r>
              <a:rPr sz="2000" b="0" i="0" dirty="0" err="1">
                <a:solidFill>
                  <a:srgbClr val="1A1A1A"/>
                </a:solidFill>
              </a:rPr>
              <a:t>Alkhawaldeh</a:t>
            </a:r>
            <a:r>
              <a:rPr sz="2000" b="0" i="0" dirty="0">
                <a:solidFill>
                  <a:srgbClr val="1A1A1A"/>
                </a:solidFill>
              </a:rPr>
              <a:t> et al., 2024).</a:t>
            </a:r>
          </a:p>
          <a:p>
            <a:pPr marL="342900" indent="-342900" algn="l">
              <a:lnSpc>
                <a:spcPct val="100000"/>
              </a:lnSpc>
              <a:spcBef>
                <a:spcPts val="600"/>
              </a:spcBef>
              <a:spcAft>
                <a:spcPts val="0"/>
              </a:spcAft>
              <a:buFont typeface="Arial"/>
              <a:buChar char="•"/>
            </a:pPr>
            <a:r>
              <a:rPr sz="2000" b="0" i="0" dirty="0">
                <a:solidFill>
                  <a:srgbClr val="1A1A1A"/>
                </a:solidFill>
              </a:rPr>
              <a:t>Institutional responses are push-based (inductions, campaigns); commercial fitness apps are context-blind — neither fits campus life.</a:t>
            </a:r>
          </a:p>
          <a:p>
            <a:pPr marL="342900" indent="-342900" algn="l">
              <a:lnSpc>
                <a:spcPct val="100000"/>
              </a:lnSpc>
              <a:spcBef>
                <a:spcPts val="600"/>
              </a:spcBef>
              <a:spcAft>
                <a:spcPts val="0"/>
              </a:spcAft>
              <a:buFont typeface="Arial"/>
              <a:buChar char="•"/>
            </a:pPr>
            <a:r>
              <a:rPr sz="2000" b="0" i="0" dirty="0">
                <a:solidFill>
                  <a:srgbClr val="1A1A1A"/>
                </a:solidFill>
              </a:rPr>
              <a:t>Gamification (points, badges, leaderboards) increases engagement, but effects are heterogeneous and design-dependent (Hamari et al., 2014).</a:t>
            </a:r>
          </a:p>
          <a:p>
            <a:pPr marL="342900" indent="-342900" algn="l">
              <a:lnSpc>
                <a:spcPct val="100000"/>
              </a:lnSpc>
              <a:spcBef>
                <a:spcPts val="1000"/>
              </a:spcBef>
              <a:spcAft>
                <a:spcPts val="0"/>
              </a:spcAft>
              <a:buFont typeface="Arial"/>
              <a:buChar char="•"/>
            </a:pPr>
            <a:r>
              <a:rPr sz="2000" b="1" i="0" dirty="0" err="1"/>
              <a:t>CampusFit</a:t>
            </a:r>
            <a:r>
              <a:rPr sz="2000" b="1" i="0" dirty="0"/>
              <a:t> makes the campus itself the delivery mechanism — QR checkpoints turn everyday movement into verifiable progress.</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a:latin typeface="Calibri" panose="020F0502020204030204" pitchFamily="34" charset="0"/>
                <a:ea typeface="MS PGothic" panose="020B0600070205080204" pitchFamily="34" charset="-128"/>
              </a:rPr>
              <a:pPr fontAlgn="base">
                <a:spcBef>
                  <a:spcPct val="0"/>
                </a:spcBef>
                <a:spcAft>
                  <a:spcPct val="0"/>
                </a:spcAft>
                <a:defRPr/>
              </a:pPr>
              <a:t>10/7/2026</a:t>
            </a:fld>
            <a:endParaRPr lang="en-US">
              <a:latin typeface="Calibri" panose="020F0502020204030204" pitchFamily="34" charset="0"/>
              <a:ea typeface="MS PGothic" panose="020B0600070205080204" pitchFamily="34" charset="-128"/>
            </a:endParaRPr>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2</a:t>
            </a:fld>
            <a:endParaRPr lang="en-US" altLang="en-US">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1932359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DB1C-537E-FB1F-4362-7D3C0F60D207}"/>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Problems</a:t>
            </a:r>
            <a:endParaRPr lang="en-US" dirty="0">
              <a:solidFill>
                <a:schemeClr val="bg2"/>
              </a:solidFill>
            </a:endParaRPr>
          </a:p>
        </p:txBody>
      </p:sp>
      <p:sp>
        <p:nvSpPr>
          <p:cNvPr id="3" name="Content Placeholder 2">
            <a:extLst>
              <a:ext uri="{FF2B5EF4-FFF2-40B4-BE49-F238E27FC236}">
                <a16:creationId xmlns:a16="http://schemas.microsoft.com/office/drawing/2014/main" id="{3A386C90-A221-580A-FFD5-6EB28AF3FB7E}"/>
              </a:ext>
            </a:extLst>
          </p:cNvPr>
          <p:cNvSpPr>
            <a:spLocks noGrp="1"/>
          </p:cNvSpPr>
          <p:nvPr>
            <p:ph idx="1"/>
          </p:nvPr>
        </p:nvSpPr>
        <p:spPr>
          <a:xfrm>
            <a:off x="609600" y="1541206"/>
            <a:ext cx="10972800" cy="4526280"/>
          </a:xfrm>
        </p:spPr>
        <p:txBody>
          <a:bodyPr wrap="square"/>
          <a:lstStyle/>
          <a:p>
            <a:pPr marL="0" indent="0" algn="l">
              <a:lnSpc>
                <a:spcPct val="100000"/>
              </a:lnSpc>
              <a:spcBef>
                <a:spcPts val="1000"/>
              </a:spcBef>
              <a:spcAft>
                <a:spcPts val="0"/>
              </a:spcAft>
              <a:buNone/>
            </a:pPr>
            <a:r>
              <a:rPr sz="2400" b="1" i="0" dirty="0"/>
              <a:t>Why existing approaches fail</a:t>
            </a:r>
            <a:endParaRPr lang="en-US" altLang="zh-CN" sz="4000" dirty="0">
              <a:latin typeface="Times New Roman" panose="02020603050405020304" pitchFamily="18" charset="0"/>
              <a:sym typeface="+mn-ea"/>
            </a:endParaRPr>
          </a:p>
          <a:p>
            <a:pPr marL="342900" indent="-342900" algn="l">
              <a:lnSpc>
                <a:spcPct val="100000"/>
              </a:lnSpc>
              <a:spcBef>
                <a:spcPts val="600"/>
              </a:spcBef>
              <a:spcAft>
                <a:spcPts val="0"/>
              </a:spcAft>
              <a:buFont typeface="Arial"/>
              <a:buChar char="•"/>
            </a:pPr>
            <a:r>
              <a:rPr sz="1800" b="0" i="0" dirty="0">
                <a:solidFill>
                  <a:srgbClr val="1A1A1A"/>
                </a:solidFill>
              </a:rPr>
              <a:t>Campus wellness </a:t>
            </a:r>
            <a:r>
              <a:rPr sz="1800" b="0" i="0" dirty="0" err="1">
                <a:solidFill>
                  <a:srgbClr val="1A1A1A"/>
                </a:solidFill>
              </a:rPr>
              <a:t>programmes</a:t>
            </a:r>
            <a:r>
              <a:rPr sz="1800" b="0" i="0" dirty="0">
                <a:solidFill>
                  <a:srgbClr val="1A1A1A"/>
                </a:solidFill>
              </a:rPr>
              <a:t> lose students as soon as one-off inductions and campaigns end; participation decays quickly (Roberts et al., 2024).</a:t>
            </a:r>
          </a:p>
          <a:p>
            <a:pPr marL="342900" indent="-342900" algn="l">
              <a:lnSpc>
                <a:spcPct val="100000"/>
              </a:lnSpc>
              <a:spcBef>
                <a:spcPts val="600"/>
              </a:spcBef>
              <a:spcAft>
                <a:spcPts val="0"/>
              </a:spcAft>
              <a:buFont typeface="Arial"/>
              <a:buChar char="•"/>
            </a:pPr>
            <a:r>
              <a:rPr sz="1800" b="0" i="0" dirty="0">
                <a:solidFill>
                  <a:srgbClr val="1A1A1A"/>
                </a:solidFill>
              </a:rPr>
              <a:t>Fitness apps count steps but ignore campus context — no community, no exploration, and manual logging competes with students' scarce time.</a:t>
            </a:r>
          </a:p>
          <a:p>
            <a:pPr marL="342900" indent="-342900" algn="l">
              <a:lnSpc>
                <a:spcPct val="100000"/>
              </a:lnSpc>
              <a:spcBef>
                <a:spcPts val="600"/>
              </a:spcBef>
              <a:spcAft>
                <a:spcPts val="0"/>
              </a:spcAft>
              <a:buFont typeface="Arial"/>
              <a:buChar char="•"/>
            </a:pPr>
            <a:r>
              <a:rPr sz="1800" b="0" i="0" dirty="0">
                <a:solidFill>
                  <a:srgbClr val="1A1A1A"/>
                </a:solidFill>
              </a:rPr>
              <a:t>Barriers persist: motivation, accountability, time constraints, and the intimidation factor of gyms and </a:t>
            </a:r>
            <a:r>
              <a:rPr sz="1800" b="0" i="0" dirty="0" err="1">
                <a:solidFill>
                  <a:srgbClr val="1A1A1A"/>
                </a:solidFill>
              </a:rPr>
              <a:t>organised</a:t>
            </a:r>
            <a:r>
              <a:rPr sz="1800" b="0" i="0" dirty="0">
                <a:solidFill>
                  <a:srgbClr val="1A1A1A"/>
                </a:solidFill>
              </a:rPr>
              <a:t> sport.</a:t>
            </a:r>
          </a:p>
          <a:p>
            <a:pPr marL="342900" indent="-342900" algn="l">
              <a:lnSpc>
                <a:spcPct val="100000"/>
              </a:lnSpc>
              <a:spcBef>
                <a:spcPts val="600"/>
              </a:spcBef>
              <a:spcAft>
                <a:spcPts val="0"/>
              </a:spcAft>
              <a:buFont typeface="Arial"/>
              <a:buChar char="•"/>
            </a:pPr>
            <a:r>
              <a:rPr sz="1800" b="0" i="0" dirty="0">
                <a:solidFill>
                  <a:srgbClr val="1A1A1A"/>
                </a:solidFill>
              </a:rPr>
              <a:t>Structural mismatch: institutions lack a persistent delivery mechanism; apps lack any relationship with the institution.</a:t>
            </a:r>
          </a:p>
          <a:p>
            <a:pPr marL="0" indent="0" algn="l">
              <a:lnSpc>
                <a:spcPct val="100000"/>
              </a:lnSpc>
              <a:spcBef>
                <a:spcPts val="1000"/>
              </a:spcBef>
              <a:spcAft>
                <a:spcPts val="0"/>
              </a:spcAft>
              <a:buNone/>
            </a:pPr>
            <a:r>
              <a:rPr sz="2400" b="1" i="0" dirty="0"/>
              <a:t>Research gap</a:t>
            </a:r>
          </a:p>
          <a:p>
            <a:pPr marL="342900" indent="-342900" algn="l">
              <a:lnSpc>
                <a:spcPct val="100000"/>
              </a:lnSpc>
              <a:spcBef>
                <a:spcPts val="600"/>
              </a:spcBef>
              <a:spcAft>
                <a:spcPts val="0"/>
              </a:spcAft>
              <a:buFont typeface="Arial"/>
              <a:buChar char="•"/>
            </a:pPr>
            <a:r>
              <a:rPr sz="1800" b="0" i="0" dirty="0">
                <a:solidFill>
                  <a:srgbClr val="1A1A1A"/>
                </a:solidFill>
              </a:rPr>
              <a:t>No reviewed system combines campus-anchored checkpoints, server-side auditable rewards, competition designed against demotivation, and institutional governance.</a:t>
            </a:r>
          </a:p>
          <a:p>
            <a:pPr marL="342900" indent="-342900" algn="l">
              <a:lnSpc>
                <a:spcPct val="100000"/>
              </a:lnSpc>
              <a:spcBef>
                <a:spcPts val="800"/>
              </a:spcBef>
              <a:spcAft>
                <a:spcPts val="0"/>
              </a:spcAft>
              <a:buFont typeface="Arial"/>
              <a:buChar char="•"/>
            </a:pPr>
            <a:r>
              <a:rPr sz="1800" b="1" i="0" dirty="0">
                <a:solidFill>
                  <a:srgbClr val="1A1A1A"/>
                </a:solidFill>
              </a:rPr>
              <a:t>Core problem: no structured, gamified, campus-based fitness application integrates physical checkpoints with competitive motivation to raise student activity.</a:t>
            </a:r>
          </a:p>
        </p:txBody>
      </p:sp>
      <p:sp>
        <p:nvSpPr>
          <p:cNvPr id="4" name="Date Placeholder 3">
            <a:extLst>
              <a:ext uri="{FF2B5EF4-FFF2-40B4-BE49-F238E27FC236}">
                <a16:creationId xmlns:a16="http://schemas.microsoft.com/office/drawing/2014/main" id="{8531FEBA-0B27-7CAB-D40C-DDFB5DF5ADB3}"/>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735FE2F2-16C4-3CA6-A52D-9A30616C3AE5}"/>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3</a:t>
            </a:fld>
            <a:endParaRPr lang="en-US" altLang="en-US">
              <a:ea typeface="MS PGothic" panose="020B0600070205080204" pitchFamily="34" charset="-128"/>
            </a:endParaRPr>
          </a:p>
        </p:txBody>
      </p:sp>
    </p:spTree>
    <p:extLst>
      <p:ext uri="{BB962C8B-B14F-4D97-AF65-F5344CB8AC3E}">
        <p14:creationId xmlns:p14="http://schemas.microsoft.com/office/powerpoint/2010/main" val="189611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B2738-68AC-4D51-568D-D524A0A661F8}"/>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Proposed Solution</a:t>
            </a:r>
            <a:endParaRPr lang="en-US" dirty="0">
              <a:solidFill>
                <a:schemeClr val="bg2"/>
              </a:solidFill>
            </a:endParaRPr>
          </a:p>
        </p:txBody>
      </p:sp>
      <p:sp>
        <p:nvSpPr>
          <p:cNvPr id="3" name="Content Placeholder 2">
            <a:extLst>
              <a:ext uri="{FF2B5EF4-FFF2-40B4-BE49-F238E27FC236}">
                <a16:creationId xmlns:a16="http://schemas.microsoft.com/office/drawing/2014/main" id="{6DEFCC0B-C1AE-0B6A-2192-DD51A8EE47B9}"/>
              </a:ext>
            </a:extLst>
          </p:cNvPr>
          <p:cNvSpPr>
            <a:spLocks noGrp="1"/>
          </p:cNvSpPr>
          <p:nvPr>
            <p:ph idx="1"/>
          </p:nvPr>
        </p:nvSpPr>
        <p:spPr>
          <a:xfrm>
            <a:off x="612648" y="1600200"/>
            <a:ext cx="10972800" cy="4526280"/>
          </a:xfrm>
        </p:spPr>
        <p:txBody>
          <a:bodyPr wrap="square"/>
          <a:lstStyle/>
          <a:p>
            <a:pPr marL="342900" indent="-342900" algn="l">
              <a:lnSpc>
                <a:spcPct val="100000"/>
              </a:lnSpc>
              <a:spcBef>
                <a:spcPts val="600"/>
              </a:spcBef>
              <a:spcAft>
                <a:spcPts val="0"/>
              </a:spcAft>
              <a:buFont typeface="Arial"/>
              <a:buChar char="•"/>
            </a:pPr>
            <a:r>
              <a:rPr sz="2000" b="1" i="0" dirty="0" err="1">
                <a:solidFill>
                  <a:srgbClr val="1A1A1A"/>
                </a:solidFill>
              </a:rPr>
              <a:t>CampusFit</a:t>
            </a:r>
            <a:r>
              <a:rPr sz="2000" b="1" i="0" dirty="0">
                <a:solidFill>
                  <a:srgbClr val="1A1A1A"/>
                </a:solidFill>
              </a:rPr>
              <a:t> — a gamified, checkpoint-based Progressive Web App (React + TypeScript + Tailwind): installable, offline-capable, one codebase.</a:t>
            </a:r>
            <a:endParaRPr lang="en-US" altLang="zh-CN" sz="4400" dirty="0">
              <a:latin typeface="Times New Roman" panose="02020603050405020304" pitchFamily="18" charset="0"/>
              <a:cs typeface="Times New Roman" panose="02020603050405020304" pitchFamily="18" charset="0"/>
              <a:sym typeface="+mn-ea"/>
            </a:endParaRPr>
          </a:p>
          <a:p>
            <a:pPr marL="342900" indent="-342900" algn="l">
              <a:lnSpc>
                <a:spcPct val="100000"/>
              </a:lnSpc>
              <a:spcBef>
                <a:spcPts val="600"/>
              </a:spcBef>
              <a:spcAft>
                <a:spcPts val="0"/>
              </a:spcAft>
              <a:buFont typeface="Arial"/>
              <a:buChar char="•"/>
            </a:pPr>
            <a:r>
              <a:rPr sz="2000" b="0" i="0" dirty="0">
                <a:solidFill>
                  <a:srgbClr val="1A1A1A"/>
                </a:solidFill>
              </a:rPr>
              <a:t>QR signs at campus landmarks (e.g. LIB-A1) are NFC-ready; a scan proves presence at the location — the same code string lives in the database.</a:t>
            </a:r>
          </a:p>
          <a:p>
            <a:pPr marL="342900" indent="-342900" algn="l">
              <a:lnSpc>
                <a:spcPct val="100000"/>
              </a:lnSpc>
              <a:spcBef>
                <a:spcPts val="600"/>
              </a:spcBef>
              <a:spcAft>
                <a:spcPts val="0"/>
              </a:spcAft>
              <a:buFont typeface="Arial"/>
              <a:buChar char="•"/>
            </a:pPr>
            <a:r>
              <a:rPr sz="2000" b="0" i="0" dirty="0">
                <a:solidFill>
                  <a:srgbClr val="1A1A1A"/>
                </a:solidFill>
              </a:rPr>
              <a:t>All reward authority is server-side: </a:t>
            </a:r>
            <a:r>
              <a:rPr sz="2000" b="0" i="0" dirty="0" err="1">
                <a:solidFill>
                  <a:srgbClr val="1A1A1A"/>
                </a:solidFill>
              </a:rPr>
              <a:t>scan_checkpoint</a:t>
            </a:r>
            <a:r>
              <a:rPr sz="2000" b="0" i="0" dirty="0">
                <a:solidFill>
                  <a:srgbClr val="1A1A1A"/>
                </a:solidFill>
              </a:rPr>
              <a:t>() resolves the code, enforces an 8-hour cooldown, applies the difficulty multiplier and writes the append-only ledger — one transaction.</a:t>
            </a:r>
          </a:p>
          <a:p>
            <a:pPr marL="342900" indent="-342900" algn="l">
              <a:lnSpc>
                <a:spcPct val="100000"/>
              </a:lnSpc>
              <a:spcBef>
                <a:spcPts val="600"/>
              </a:spcBef>
              <a:spcAft>
                <a:spcPts val="0"/>
              </a:spcAft>
              <a:buFont typeface="Arial"/>
              <a:buChar char="•"/>
            </a:pPr>
            <a:r>
              <a:rPr sz="2000" b="0" i="0" dirty="0">
                <a:solidFill>
                  <a:srgbClr val="1A1A1A"/>
                </a:solidFill>
              </a:rPr>
              <a:t>Difficulty tiers easy ×1.0 · medium ×1.3 · hard ×1.8 · epic ×2.5; square-root level curve; daily streaks; badges evaluated automatically.</a:t>
            </a:r>
          </a:p>
          <a:p>
            <a:pPr marL="342900" indent="-342900" algn="l">
              <a:lnSpc>
                <a:spcPct val="100000"/>
              </a:lnSpc>
              <a:spcBef>
                <a:spcPts val="600"/>
              </a:spcBef>
              <a:spcAft>
                <a:spcPts val="0"/>
              </a:spcAft>
              <a:buFont typeface="Arial"/>
              <a:buChar char="•"/>
            </a:pPr>
            <a:r>
              <a:rPr sz="2000" b="0" i="0" dirty="0">
                <a:solidFill>
                  <a:srgbClr val="1A1A1A"/>
                </a:solidFill>
              </a:rPr>
              <a:t>Bounded weekly leaderboards and club totals — competition designed against the documented risks of open-ended rankings.</a:t>
            </a:r>
          </a:p>
          <a:p>
            <a:pPr marL="342900" indent="-342900" algn="l">
              <a:lnSpc>
                <a:spcPct val="100000"/>
              </a:lnSpc>
              <a:spcBef>
                <a:spcPts val="1000"/>
              </a:spcBef>
              <a:spcAft>
                <a:spcPts val="0"/>
              </a:spcAft>
              <a:buFont typeface="Arial"/>
              <a:buChar char="•"/>
            </a:pPr>
            <a:r>
              <a:rPr sz="2000" b="1" i="0" dirty="0"/>
              <a:t>Participatory, auditable, governable — every point traceable to a checkpoint, timestamp and rule, with no custom backend to operate.</a:t>
            </a:r>
          </a:p>
        </p:txBody>
      </p:sp>
      <p:sp>
        <p:nvSpPr>
          <p:cNvPr id="4" name="Date Placeholder 3">
            <a:extLst>
              <a:ext uri="{FF2B5EF4-FFF2-40B4-BE49-F238E27FC236}">
                <a16:creationId xmlns:a16="http://schemas.microsoft.com/office/drawing/2014/main" id="{1B823B23-738E-64E3-FFD2-6DC756DE6D84}"/>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A12BA517-DF9E-BB84-BEC3-8B2D35D700A7}"/>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4</a:t>
            </a:fld>
            <a:endParaRPr lang="en-US" altLang="en-US">
              <a:ea typeface="MS PGothic" panose="020B0600070205080204" pitchFamily="34" charset="-128"/>
            </a:endParaRPr>
          </a:p>
        </p:txBody>
      </p:sp>
    </p:spTree>
    <p:extLst>
      <p:ext uri="{BB962C8B-B14F-4D97-AF65-F5344CB8AC3E}">
        <p14:creationId xmlns:p14="http://schemas.microsoft.com/office/powerpoint/2010/main" val="230177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5A31B-99F0-32CD-42FA-EA92C81A3224}"/>
              </a:ext>
            </a:extLst>
          </p:cNvPr>
          <p:cNvSpPr>
            <a:spLocks noGrp="1"/>
          </p:cNvSpPr>
          <p:nvPr>
            <p:ph type="title"/>
          </p:nvPr>
        </p:nvSpPr>
        <p:spPr/>
        <p:txBody>
          <a:bodyPr/>
          <a:lstStyle/>
          <a:p>
            <a:r>
              <a:rPr lang="en-GB" b="1" dirty="0">
                <a:solidFill>
                  <a:schemeClr val="bg2"/>
                </a:solidFill>
                <a:latin typeface="Times New Roman" panose="02020603050405020304" pitchFamily="18" charset="0"/>
                <a:cs typeface="Times New Roman" panose="02020603050405020304" pitchFamily="18" charset="0"/>
              </a:rPr>
              <a:t>Objectives</a:t>
            </a:r>
            <a:endParaRPr lang="en-US" dirty="0"/>
          </a:p>
        </p:txBody>
      </p:sp>
      <p:sp>
        <p:nvSpPr>
          <p:cNvPr id="3" name="Content Placeholder 2">
            <a:extLst>
              <a:ext uri="{FF2B5EF4-FFF2-40B4-BE49-F238E27FC236}">
                <a16:creationId xmlns:a16="http://schemas.microsoft.com/office/drawing/2014/main" id="{9DF2A7B9-9577-A5DF-84DE-6D64DB05A797}"/>
              </a:ext>
            </a:extLst>
          </p:cNvPr>
          <p:cNvSpPr>
            <a:spLocks noGrp="1"/>
          </p:cNvSpPr>
          <p:nvPr>
            <p:ph idx="1"/>
          </p:nvPr>
        </p:nvSpPr>
        <p:spPr>
          <a:xfrm>
            <a:off x="612648" y="1600200"/>
            <a:ext cx="10972800" cy="4526280"/>
          </a:xfrm>
        </p:spPr>
        <p:txBody>
          <a:bodyPr wrap="square"/>
          <a:lstStyle/>
          <a:p>
            <a:pPr marL="0" indent="0" algn="l">
              <a:lnSpc>
                <a:spcPct val="100000"/>
              </a:lnSpc>
              <a:spcBef>
                <a:spcPts val="1000"/>
              </a:spcBef>
              <a:spcAft>
                <a:spcPts val="0"/>
              </a:spcAft>
              <a:buNone/>
            </a:pPr>
            <a:r>
              <a:rPr sz="2400" b="1" i="0" dirty="0"/>
              <a:t>General objective</a:t>
            </a:r>
            <a:endParaRPr lang="en-US" sz="3600" dirty="0">
              <a:latin typeface="Times New Roman" panose="02020603050405020304" pitchFamily="18" charset="0"/>
              <a:cs typeface="Times New Roman" panose="02020603050405020304" pitchFamily="18" charset="0"/>
            </a:endParaRPr>
          </a:p>
          <a:p>
            <a:pPr marL="0" indent="0" algn="l">
              <a:lnSpc>
                <a:spcPct val="100000"/>
              </a:lnSpc>
              <a:spcBef>
                <a:spcPts val="200"/>
              </a:spcBef>
              <a:spcAft>
                <a:spcPts val="0"/>
              </a:spcAft>
              <a:buNone/>
            </a:pPr>
            <a:r>
              <a:rPr sz="2000" b="0" i="0" dirty="0">
                <a:solidFill>
                  <a:srgbClr val="1A1A1A"/>
                </a:solidFill>
              </a:rPr>
              <a:t>Develop and evaluate a functional mobile fitness application that integrates gamification and location-based checkpoint tracking within a university campus.</a:t>
            </a:r>
          </a:p>
          <a:p>
            <a:pPr marL="0" indent="0" algn="l">
              <a:lnSpc>
                <a:spcPct val="100000"/>
              </a:lnSpc>
              <a:spcBef>
                <a:spcPts val="1000"/>
              </a:spcBef>
              <a:spcAft>
                <a:spcPts val="0"/>
              </a:spcAft>
              <a:buNone/>
            </a:pPr>
            <a:r>
              <a:rPr sz="2400" b="1" i="0" dirty="0"/>
              <a:t>Specific objectives</a:t>
            </a:r>
          </a:p>
          <a:p>
            <a:pPr marL="342900" indent="-342900" algn="l">
              <a:lnSpc>
                <a:spcPct val="100000"/>
              </a:lnSpc>
              <a:spcBef>
                <a:spcPts val="300"/>
              </a:spcBef>
              <a:spcAft>
                <a:spcPts val="0"/>
              </a:spcAft>
              <a:buNone/>
            </a:pPr>
            <a:r>
              <a:rPr sz="1800" b="0" i="0" dirty="0">
                <a:solidFill>
                  <a:srgbClr val="1A1A1A"/>
                </a:solidFill>
              </a:rPr>
              <a:t>1.  </a:t>
            </a:r>
            <a:r>
              <a:rPr sz="1800" b="0" i="0" dirty="0" err="1">
                <a:solidFill>
                  <a:srgbClr val="1A1A1A"/>
                </a:solidFill>
              </a:rPr>
              <a:t>Analyse</a:t>
            </a:r>
            <a:r>
              <a:rPr sz="1800" b="0" i="0" dirty="0">
                <a:solidFill>
                  <a:srgbClr val="1A1A1A"/>
                </a:solidFill>
              </a:rPr>
              <a:t> student fitness </a:t>
            </a:r>
            <a:r>
              <a:rPr sz="1800" b="0" i="0" dirty="0" err="1">
                <a:solidFill>
                  <a:srgbClr val="1A1A1A"/>
                </a:solidFill>
              </a:rPr>
              <a:t>behaviour</a:t>
            </a:r>
            <a:r>
              <a:rPr sz="1800" b="0" i="0" dirty="0">
                <a:solidFill>
                  <a:srgbClr val="1A1A1A"/>
                </a:solidFill>
              </a:rPr>
              <a:t> and determine system requirements.</a:t>
            </a:r>
          </a:p>
          <a:p>
            <a:pPr marL="342900" indent="-342900" algn="l">
              <a:lnSpc>
                <a:spcPct val="100000"/>
              </a:lnSpc>
              <a:spcBef>
                <a:spcPts val="300"/>
              </a:spcBef>
              <a:spcAft>
                <a:spcPts val="0"/>
              </a:spcAft>
              <a:buNone/>
            </a:pPr>
            <a:r>
              <a:rPr sz="1800" b="0" i="0" dirty="0">
                <a:solidFill>
                  <a:srgbClr val="1A1A1A"/>
                </a:solidFill>
              </a:rPr>
              <a:t>2.  Design a user-friendly mobile application interface.</a:t>
            </a:r>
          </a:p>
          <a:p>
            <a:pPr marL="342900" indent="-342900" algn="l">
              <a:lnSpc>
                <a:spcPct val="100000"/>
              </a:lnSpc>
              <a:spcBef>
                <a:spcPts val="300"/>
              </a:spcBef>
              <a:spcAft>
                <a:spcPts val="0"/>
              </a:spcAft>
              <a:buNone/>
            </a:pPr>
            <a:r>
              <a:rPr sz="1800" b="0" i="0" dirty="0">
                <a:solidFill>
                  <a:srgbClr val="1A1A1A"/>
                </a:solidFill>
              </a:rPr>
              <a:t>3.  Implement secure student registration and authentication.</a:t>
            </a:r>
          </a:p>
          <a:p>
            <a:pPr marL="342900" indent="-342900" algn="l">
              <a:lnSpc>
                <a:spcPct val="100000"/>
              </a:lnSpc>
              <a:spcBef>
                <a:spcPts val="300"/>
              </a:spcBef>
              <a:spcAft>
                <a:spcPts val="0"/>
              </a:spcAft>
              <a:buNone/>
            </a:pPr>
            <a:r>
              <a:rPr sz="1800" b="0" i="0" dirty="0">
                <a:solidFill>
                  <a:srgbClr val="1A1A1A"/>
                </a:solidFill>
              </a:rPr>
              <a:t>4.  Design and deploy QR/NFC-based checkpoint validation mechanisms.</a:t>
            </a:r>
          </a:p>
          <a:p>
            <a:pPr marL="342900" indent="-342900" algn="l">
              <a:lnSpc>
                <a:spcPct val="100000"/>
              </a:lnSpc>
              <a:spcBef>
                <a:spcPts val="300"/>
              </a:spcBef>
              <a:spcAft>
                <a:spcPts val="0"/>
              </a:spcAft>
              <a:buNone/>
            </a:pPr>
            <a:r>
              <a:rPr sz="1800" b="0" i="0" dirty="0">
                <a:solidFill>
                  <a:srgbClr val="1A1A1A"/>
                </a:solidFill>
              </a:rPr>
              <a:t>5.  Develop a dynamic points allocation algorithm.</a:t>
            </a:r>
          </a:p>
          <a:p>
            <a:pPr marL="342900" indent="-342900" algn="l">
              <a:lnSpc>
                <a:spcPct val="100000"/>
              </a:lnSpc>
              <a:spcBef>
                <a:spcPts val="300"/>
              </a:spcBef>
              <a:spcAft>
                <a:spcPts val="0"/>
              </a:spcAft>
              <a:buNone/>
            </a:pPr>
            <a:r>
              <a:rPr sz="1800" b="0" i="0" dirty="0">
                <a:solidFill>
                  <a:srgbClr val="1A1A1A"/>
                </a:solidFill>
              </a:rPr>
              <a:t>6.  Integrate leaderboard functionality for competitive ranking.</a:t>
            </a:r>
          </a:p>
          <a:p>
            <a:pPr marL="342900" indent="-342900" algn="l">
              <a:lnSpc>
                <a:spcPct val="100000"/>
              </a:lnSpc>
              <a:spcBef>
                <a:spcPts val="300"/>
              </a:spcBef>
              <a:spcAft>
                <a:spcPts val="0"/>
              </a:spcAft>
              <a:buNone/>
            </a:pPr>
            <a:r>
              <a:rPr sz="1800" b="0" i="0" dirty="0">
                <a:solidFill>
                  <a:srgbClr val="1A1A1A"/>
                </a:solidFill>
              </a:rPr>
              <a:t>7.  Implement a badge and achievement reward system.</a:t>
            </a:r>
          </a:p>
          <a:p>
            <a:pPr marL="342900" indent="-342900" algn="l">
              <a:lnSpc>
                <a:spcPct val="100000"/>
              </a:lnSpc>
              <a:spcBef>
                <a:spcPts val="300"/>
              </a:spcBef>
              <a:spcAft>
                <a:spcPts val="0"/>
              </a:spcAft>
              <a:buNone/>
            </a:pPr>
            <a:r>
              <a:rPr sz="1800" b="0" i="0" dirty="0">
                <a:solidFill>
                  <a:srgbClr val="1A1A1A"/>
                </a:solidFill>
              </a:rPr>
              <a:t>8.  Design an administrative dashboard for system management.</a:t>
            </a:r>
          </a:p>
          <a:p>
            <a:pPr marL="342900" indent="-342900" algn="l">
              <a:lnSpc>
                <a:spcPct val="100000"/>
              </a:lnSpc>
              <a:spcBef>
                <a:spcPts val="300"/>
              </a:spcBef>
              <a:spcAft>
                <a:spcPts val="0"/>
              </a:spcAft>
              <a:buNone/>
            </a:pPr>
            <a:r>
              <a:rPr sz="1800" b="0" i="0" dirty="0">
                <a:solidFill>
                  <a:srgbClr val="1A1A1A"/>
                </a:solidFill>
              </a:rPr>
              <a:t>9.  Test system usability, performance and scalability.</a:t>
            </a:r>
          </a:p>
          <a:p>
            <a:pPr marL="342900" indent="-342900" algn="l">
              <a:lnSpc>
                <a:spcPct val="100000"/>
              </a:lnSpc>
              <a:spcBef>
                <a:spcPts val="300"/>
              </a:spcBef>
              <a:spcAft>
                <a:spcPts val="0"/>
              </a:spcAft>
              <a:buNone/>
            </a:pPr>
            <a:r>
              <a:rPr sz="1800" b="0" i="0" dirty="0">
                <a:solidFill>
                  <a:srgbClr val="1A1A1A"/>
                </a:solidFill>
              </a:rPr>
              <a:t>10. Evaluate user engagement through pilot testing.</a:t>
            </a:r>
          </a:p>
        </p:txBody>
      </p:sp>
      <p:sp>
        <p:nvSpPr>
          <p:cNvPr id="4" name="Date Placeholder 3">
            <a:extLst>
              <a:ext uri="{FF2B5EF4-FFF2-40B4-BE49-F238E27FC236}">
                <a16:creationId xmlns:a16="http://schemas.microsoft.com/office/drawing/2014/main" id="{5CAA1B5D-12F2-D542-90C1-8F260A0B4D4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5868BA78-6230-9A49-69A7-B22EB73C48CC}"/>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5</a:t>
            </a:fld>
            <a:endParaRPr lang="en-US" altLang="en-US">
              <a:ea typeface="MS PGothic" panose="020B0600070205080204" pitchFamily="34" charset="-128"/>
            </a:endParaRPr>
          </a:p>
        </p:txBody>
      </p:sp>
    </p:spTree>
    <p:extLst>
      <p:ext uri="{BB962C8B-B14F-4D97-AF65-F5344CB8AC3E}">
        <p14:creationId xmlns:p14="http://schemas.microsoft.com/office/powerpoint/2010/main" val="1436351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06D3C-4B4F-4105-A2CA-8CCC647D3BA1}"/>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System Diagram</a:t>
            </a:r>
            <a:endParaRPr lang="en-US" dirty="0">
              <a:solidFill>
                <a:schemeClr val="bg2"/>
              </a:solidFill>
            </a:endParaRPr>
          </a:p>
        </p:txBody>
      </p:sp>
      <p:sp>
        <p:nvSpPr>
          <p:cNvPr id="4" name="Date Placeholder 3">
            <a:extLst>
              <a:ext uri="{FF2B5EF4-FFF2-40B4-BE49-F238E27FC236}">
                <a16:creationId xmlns:a16="http://schemas.microsoft.com/office/drawing/2014/main" id="{01725DB2-1CF4-25AC-98C9-B01040B6961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3890411F-B638-EC08-5169-AE580B8FB891}"/>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6</a:t>
            </a:fld>
            <a:endParaRPr lang="en-US" altLang="en-US">
              <a:ea typeface="MS PGothic" panose="020B0600070205080204" pitchFamily="34" charset="-128"/>
            </a:endParaRPr>
          </a:p>
        </p:txBody>
      </p:sp>
      <p:sp>
        <p:nvSpPr>
          <p:cNvPr id="6" name="TextBox 5"/>
          <p:cNvSpPr txBox="1"/>
          <p:nvPr/>
        </p:nvSpPr>
        <p:spPr>
          <a:xfrm>
            <a:off x="730635" y="1548312"/>
            <a:ext cx="10972800" cy="270843"/>
          </a:xfrm>
          <a:prstGeom prst="rect">
            <a:avLst/>
          </a:prstGeom>
          <a:noFill/>
        </p:spPr>
        <p:txBody>
          <a:bodyPr wrap="square" lIns="0" tIns="27432" rIns="0" bIns="27432" anchor="t">
            <a:spAutoFit/>
          </a:bodyPr>
          <a:lstStyle/>
          <a:p>
            <a:pPr marL="0" indent="0" algn="l">
              <a:lnSpc>
                <a:spcPct val="100000"/>
              </a:lnSpc>
              <a:spcBef>
                <a:spcPts val="0"/>
              </a:spcBef>
              <a:spcAft>
                <a:spcPts val="0"/>
              </a:spcAft>
              <a:buNone/>
            </a:pPr>
            <a:r>
              <a:rPr sz="1400" b="1" i="1" dirty="0">
                <a:solidFill>
                  <a:srgbClr val="5A5A5A"/>
                </a:solidFill>
              </a:rPr>
              <a:t>Three-tier architecture — the client never holds reward authority</a:t>
            </a:r>
          </a:p>
        </p:txBody>
      </p:sp>
      <p:sp>
        <p:nvSpPr>
          <p:cNvPr id="7" name="Rounded Rectangle 6"/>
          <p:cNvSpPr/>
          <p:nvPr/>
        </p:nvSpPr>
        <p:spPr>
          <a:xfrm>
            <a:off x="730635" y="1840920"/>
            <a:ext cx="3108960" cy="2148840"/>
          </a:xfrm>
          <a:prstGeom prst="roundRect">
            <a:avLst/>
          </a:prstGeom>
          <a:solidFill>
            <a:srgbClr val="E6F9F1"/>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600"/>
              </a:spcAft>
              <a:buNone/>
            </a:pPr>
            <a:r>
              <a:rPr sz="1400" b="1" i="0" dirty="0">
                <a:solidFill>
                  <a:srgbClr val="17795E"/>
                </a:solidFill>
              </a:rPr>
              <a:t>Physical tier</a:t>
            </a:r>
          </a:p>
          <a:p>
            <a:pPr marL="228600" indent="-228600" algn="l">
              <a:lnSpc>
                <a:spcPct val="100000"/>
              </a:lnSpc>
              <a:spcBef>
                <a:spcPts val="300"/>
              </a:spcBef>
              <a:spcAft>
                <a:spcPts val="0"/>
              </a:spcAft>
              <a:buFont typeface="Arial"/>
              <a:buChar char="•"/>
            </a:pPr>
            <a:r>
              <a:rPr sz="1050" b="0" i="0" dirty="0">
                <a:solidFill>
                  <a:srgbClr val="1A1A1A"/>
                </a:solidFill>
              </a:rPr>
              <a:t>Printed QR signs at landmarks (LIB-A1)</a:t>
            </a:r>
          </a:p>
          <a:p>
            <a:pPr marL="228600" indent="-228600" algn="l">
              <a:lnSpc>
                <a:spcPct val="100000"/>
              </a:lnSpc>
              <a:spcBef>
                <a:spcPts val="300"/>
              </a:spcBef>
              <a:spcAft>
                <a:spcPts val="0"/>
              </a:spcAft>
              <a:buFont typeface="Arial"/>
              <a:buChar char="•"/>
            </a:pPr>
            <a:r>
              <a:rPr sz="1050" b="0" i="0" dirty="0">
                <a:solidFill>
                  <a:srgbClr val="1A1A1A"/>
                </a:solidFill>
              </a:rPr>
              <a:t>Code registry maps code → checkpoint</a:t>
            </a:r>
          </a:p>
          <a:p>
            <a:pPr marL="228600" indent="-228600" algn="l">
              <a:lnSpc>
                <a:spcPct val="100000"/>
              </a:lnSpc>
              <a:spcBef>
                <a:spcPts val="300"/>
              </a:spcBef>
              <a:spcAft>
                <a:spcPts val="0"/>
              </a:spcAft>
              <a:buFont typeface="Arial"/>
              <a:buChar char="•"/>
            </a:pPr>
            <a:r>
              <a:rPr sz="1050" b="0" i="0" dirty="0">
                <a:solidFill>
                  <a:srgbClr val="1A1A1A"/>
                </a:solidFill>
              </a:rPr>
              <a:t>NFC-ready, no schema change</a:t>
            </a:r>
          </a:p>
        </p:txBody>
      </p:sp>
      <p:sp>
        <p:nvSpPr>
          <p:cNvPr id="8" name="Rounded Rectangle 7"/>
          <p:cNvSpPr/>
          <p:nvPr/>
        </p:nvSpPr>
        <p:spPr>
          <a:xfrm>
            <a:off x="4662555" y="1840920"/>
            <a:ext cx="3108960" cy="2148840"/>
          </a:xfrm>
          <a:prstGeom prst="roundRect">
            <a:avLst/>
          </a:prstGeom>
          <a:solidFill>
            <a:srgbClr val="E6F9F1"/>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600"/>
              </a:spcAft>
              <a:buNone/>
            </a:pPr>
            <a:r>
              <a:rPr sz="1400" b="1" i="0">
                <a:solidFill>
                  <a:srgbClr val="17795E"/>
                </a:solidFill>
              </a:rPr>
              <a:t>Client tier</a:t>
            </a:r>
          </a:p>
          <a:p>
            <a:pPr marL="228600" indent="-228600" algn="l">
              <a:lnSpc>
                <a:spcPct val="100000"/>
              </a:lnSpc>
              <a:spcBef>
                <a:spcPts val="300"/>
              </a:spcBef>
              <a:spcAft>
                <a:spcPts val="0"/>
              </a:spcAft>
              <a:buFont typeface="Arial"/>
              <a:buChar char="•"/>
            </a:pPr>
            <a:r>
              <a:rPr sz="1050" b="0" i="0">
                <a:solidFill>
                  <a:srgbClr val="1A1A1A"/>
                </a:solidFill>
              </a:rPr>
              <a:t>React 19 + TypeScript + Tailwind PWA</a:t>
            </a:r>
          </a:p>
          <a:p>
            <a:pPr marL="228600" indent="-228600" algn="l">
              <a:lnSpc>
                <a:spcPct val="100000"/>
              </a:lnSpc>
              <a:spcBef>
                <a:spcPts val="300"/>
              </a:spcBef>
              <a:spcAft>
                <a:spcPts val="0"/>
              </a:spcAft>
              <a:buFont typeface="Arial"/>
              <a:buChar char="•"/>
            </a:pPr>
            <a:r>
              <a:rPr sz="1050" b="0" i="0">
                <a:solidFill>
                  <a:srgbClr val="1A1A1A"/>
                </a:solidFill>
              </a:rPr>
              <a:t>Collects the code, renders award &amp; profile</a:t>
            </a:r>
          </a:p>
          <a:p>
            <a:pPr marL="228600" indent="-228600" algn="l">
              <a:lnSpc>
                <a:spcPct val="100000"/>
              </a:lnSpc>
              <a:spcBef>
                <a:spcPts val="300"/>
              </a:spcBef>
              <a:spcAft>
                <a:spcPts val="0"/>
              </a:spcAft>
              <a:buFont typeface="Arial"/>
              <a:buChar char="•"/>
            </a:pPr>
            <a:r>
              <a:rPr sz="1050" b="0" i="0">
                <a:solidFill>
                  <a:srgbClr val="1A1A1A"/>
                </a:solidFill>
              </a:rPr>
              <a:t>Installable, offline shell (Vercel)</a:t>
            </a:r>
          </a:p>
          <a:p>
            <a:pPr marL="228600" indent="-228600" algn="l">
              <a:lnSpc>
                <a:spcPct val="100000"/>
              </a:lnSpc>
              <a:spcBef>
                <a:spcPts val="300"/>
              </a:spcBef>
              <a:spcAft>
                <a:spcPts val="0"/>
              </a:spcAft>
              <a:buFont typeface="Arial"/>
              <a:buChar char="•"/>
            </a:pPr>
            <a:r>
              <a:rPr sz="1050" b="0" i="0">
                <a:solidFill>
                  <a:srgbClr val="1A1A1A"/>
                </a:solidFill>
              </a:rPr>
              <a:t>Zero reward authority — presentation only</a:t>
            </a:r>
          </a:p>
        </p:txBody>
      </p:sp>
      <p:sp>
        <p:nvSpPr>
          <p:cNvPr id="9" name="Rounded Rectangle 8"/>
          <p:cNvSpPr/>
          <p:nvPr/>
        </p:nvSpPr>
        <p:spPr>
          <a:xfrm>
            <a:off x="8594475" y="1840920"/>
            <a:ext cx="3108960" cy="2148840"/>
          </a:xfrm>
          <a:prstGeom prst="roundRect">
            <a:avLst/>
          </a:prstGeom>
          <a:solidFill>
            <a:srgbClr val="E6F9F1"/>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600"/>
              </a:spcAft>
              <a:buNone/>
            </a:pPr>
            <a:r>
              <a:rPr sz="1400" b="1" i="0">
                <a:solidFill>
                  <a:srgbClr val="17795E"/>
                </a:solidFill>
              </a:rPr>
              <a:t>Backend tier</a:t>
            </a:r>
          </a:p>
          <a:p>
            <a:pPr marL="228600" indent="-228600" algn="l">
              <a:lnSpc>
                <a:spcPct val="100000"/>
              </a:lnSpc>
              <a:spcBef>
                <a:spcPts val="300"/>
              </a:spcBef>
              <a:spcAft>
                <a:spcPts val="0"/>
              </a:spcAft>
              <a:buFont typeface="Arial"/>
              <a:buChar char="•"/>
            </a:pPr>
            <a:r>
              <a:rPr sz="1050" b="0" i="0">
                <a:solidFill>
                  <a:srgbClr val="1A1A1A"/>
                </a:solidFill>
              </a:rPr>
              <a:t>Supabase — auth (email + OTP)</a:t>
            </a:r>
          </a:p>
          <a:p>
            <a:pPr marL="228600" indent="-228600" algn="l">
              <a:lnSpc>
                <a:spcPct val="100000"/>
              </a:lnSpc>
              <a:spcBef>
                <a:spcPts val="300"/>
              </a:spcBef>
              <a:spcAft>
                <a:spcPts val="0"/>
              </a:spcAft>
              <a:buFont typeface="Arial"/>
              <a:buChar char="•"/>
            </a:pPr>
            <a:r>
              <a:rPr sz="1050" b="0" i="0">
                <a:solidFill>
                  <a:srgbClr val="1A1A1A"/>
                </a:solidFill>
              </a:rPr>
              <a:t>Postgres + row-level security</a:t>
            </a:r>
          </a:p>
          <a:p>
            <a:pPr marL="228600" indent="-228600" algn="l">
              <a:lnSpc>
                <a:spcPct val="100000"/>
              </a:lnSpc>
              <a:spcBef>
                <a:spcPts val="300"/>
              </a:spcBef>
              <a:spcAft>
                <a:spcPts val="0"/>
              </a:spcAft>
              <a:buFont typeface="Arial"/>
              <a:buChar char="•"/>
            </a:pPr>
            <a:r>
              <a:rPr sz="1050" b="0" i="0">
                <a:solidFill>
                  <a:srgbClr val="1A1A1A"/>
                </a:solidFill>
              </a:rPr>
              <a:t>scan_checkpoint() in one transaction</a:t>
            </a:r>
          </a:p>
          <a:p>
            <a:pPr marL="228600" indent="-228600" algn="l">
              <a:lnSpc>
                <a:spcPct val="100000"/>
              </a:lnSpc>
              <a:spcBef>
                <a:spcPts val="300"/>
              </a:spcBef>
              <a:spcAft>
                <a:spcPts val="0"/>
              </a:spcAft>
              <a:buFont typeface="Arial"/>
              <a:buChar char="•"/>
            </a:pPr>
            <a:r>
              <a:rPr sz="1050" b="0" i="0">
                <a:solidFill>
                  <a:srgbClr val="1A1A1A"/>
                </a:solidFill>
              </a:rPr>
              <a:t>REST data client generated from schema</a:t>
            </a:r>
          </a:p>
        </p:txBody>
      </p:sp>
      <p:sp>
        <p:nvSpPr>
          <p:cNvPr id="10" name="Right Arrow 9"/>
          <p:cNvSpPr/>
          <p:nvPr/>
        </p:nvSpPr>
        <p:spPr>
          <a:xfrm>
            <a:off x="3921891" y="2682169"/>
            <a:ext cx="658368" cy="457200"/>
          </a:xfrm>
          <a:prstGeom prst="right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7853811" y="2682169"/>
            <a:ext cx="658368" cy="457200"/>
          </a:xfrm>
          <a:prstGeom prst="right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Left Arrow 11"/>
          <p:cNvSpPr/>
          <p:nvPr/>
        </p:nvSpPr>
        <p:spPr>
          <a:xfrm>
            <a:off x="4662555" y="4190929"/>
            <a:ext cx="7040880" cy="420624"/>
          </a:xfrm>
          <a:prstGeom prst="left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27432" rIns="164592" bIns="27432" rtlCol="0" anchor="ctr"/>
          <a:lstStyle/>
          <a:p>
            <a:pPr marL="0" indent="0" algn="ctr">
              <a:lnSpc>
                <a:spcPct val="100000"/>
              </a:lnSpc>
              <a:spcBef>
                <a:spcPts val="0"/>
              </a:spcBef>
              <a:spcAft>
                <a:spcPts val="0"/>
              </a:spcAft>
              <a:buNone/>
            </a:pPr>
            <a:r>
              <a:rPr sz="1050" b="1" i="0">
                <a:solidFill>
                  <a:srgbClr val="1A1A1A"/>
                </a:solidFill>
              </a:rPr>
              <a:t>structured award result → new points, streak, level, badges</a:t>
            </a:r>
          </a:p>
        </p:txBody>
      </p:sp>
      <p:sp>
        <p:nvSpPr>
          <p:cNvPr id="13" name="Rounded Rectangle 12"/>
          <p:cNvSpPr/>
          <p:nvPr/>
        </p:nvSpPr>
        <p:spPr>
          <a:xfrm>
            <a:off x="730635" y="4831009"/>
            <a:ext cx="10972800" cy="658368"/>
          </a:xfrm>
          <a:prstGeom prst="roundRect">
            <a:avLst/>
          </a:prstGeom>
          <a:solidFill>
            <a:srgbClr val="FAF5EE"/>
          </a:solidFill>
          <a:ln w="15875">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marL="0" indent="0" algn="l">
              <a:lnSpc>
                <a:spcPct val="100000"/>
              </a:lnSpc>
              <a:buNone/>
            </a:pPr>
            <a:r>
              <a:rPr sz="1200" b="1" i="0">
                <a:solidFill>
                  <a:srgbClr val="17795E"/>
                </a:solidFill>
              </a:rPr>
              <a:t>Security model:  </a:t>
            </a:r>
            <a:r>
              <a:rPr sz="1200" b="0" i="0">
                <a:solidFill>
                  <a:srgbClr val="1A1A1A"/>
                </a:solidFill>
              </a:rPr>
              <a:t>row-level security on every table · all business logic in database functions · append-only audit ledger — a modified browser cannot bypass validation.</a:t>
            </a:r>
          </a:p>
        </p:txBody>
      </p:sp>
      <p:sp>
        <p:nvSpPr>
          <p:cNvPr id="14" name="Rounded Rectangle 13"/>
          <p:cNvSpPr/>
          <p:nvPr/>
        </p:nvSpPr>
        <p:spPr>
          <a:xfrm>
            <a:off x="730635" y="5580817"/>
            <a:ext cx="10972800" cy="457200"/>
          </a:xfrm>
          <a:prstGeom prst="roundRect">
            <a:avLst/>
          </a:prstGeom>
          <a:solidFill>
            <a:srgbClr val="FAF5EE"/>
          </a:solidFill>
          <a:ln w="15875">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marL="0" indent="0" algn="l">
              <a:lnSpc>
                <a:spcPct val="100000"/>
              </a:lnSpc>
              <a:buNone/>
            </a:pPr>
            <a:r>
              <a:rPr sz="1200" b="1" i="0">
                <a:solidFill>
                  <a:srgbClr val="17795E"/>
                </a:solidFill>
              </a:rPr>
              <a:t>Deployment:  </a:t>
            </a:r>
            <a:r>
              <a:rPr sz="1200" b="0" i="0">
                <a:solidFill>
                  <a:srgbClr val="1A1A1A"/>
                </a:solidFill>
              </a:rPr>
              <a:t>static bundle on Vercel — build-time environment switches demo / connected mode; the database is the only stateful component.</a:t>
            </a:r>
          </a:p>
        </p:txBody>
      </p:sp>
    </p:spTree>
    <p:extLst>
      <p:ext uri="{BB962C8B-B14F-4D97-AF65-F5344CB8AC3E}">
        <p14:creationId xmlns:p14="http://schemas.microsoft.com/office/powerpoint/2010/main" val="3985447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32FC4-DD23-1994-05AD-6A8BE81F5CEF}"/>
              </a:ext>
            </a:extLst>
          </p:cNvPr>
          <p:cNvSpPr>
            <a:spLocks noGrp="1"/>
          </p:cNvSpPr>
          <p:nvPr>
            <p:ph type="title"/>
          </p:nvPr>
        </p:nvSpPr>
        <p:spPr/>
        <p:txBody>
          <a:bodyPr/>
          <a:lstStyle/>
          <a:p>
            <a:r>
              <a:rPr lang="en-US" b="1" dirty="0">
                <a:solidFill>
                  <a:schemeClr val="bg2"/>
                </a:solidFill>
                <a:latin typeface="Times New Roman" panose="02020603050405020304" pitchFamily="18" charset="0"/>
                <a:cs typeface="Times New Roman" panose="02020603050405020304" pitchFamily="18" charset="0"/>
              </a:rPr>
              <a:t>Flowchart</a:t>
            </a:r>
            <a:endParaRPr lang="en-US" dirty="0"/>
          </a:p>
        </p:txBody>
      </p:sp>
      <p:sp>
        <p:nvSpPr>
          <p:cNvPr id="4" name="Date Placeholder 3">
            <a:extLst>
              <a:ext uri="{FF2B5EF4-FFF2-40B4-BE49-F238E27FC236}">
                <a16:creationId xmlns:a16="http://schemas.microsoft.com/office/drawing/2014/main" id="{D3F317FC-B0A5-5DF9-D46A-0097F1943542}"/>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E90DD781-364A-0708-0EFC-CA14E446F5D9}"/>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7</a:t>
            </a:fld>
            <a:endParaRPr lang="en-US" altLang="en-US">
              <a:ea typeface="MS PGothic" panose="020B0600070205080204" pitchFamily="34" charset="-128"/>
            </a:endParaRPr>
          </a:p>
        </p:txBody>
      </p:sp>
      <p:sp>
        <p:nvSpPr>
          <p:cNvPr id="9" name="TextBox 8"/>
          <p:cNvSpPr txBox="1"/>
          <p:nvPr/>
        </p:nvSpPr>
        <p:spPr>
          <a:xfrm>
            <a:off x="901192" y="1717257"/>
            <a:ext cx="10972800" cy="270843"/>
          </a:xfrm>
          <a:prstGeom prst="rect">
            <a:avLst/>
          </a:prstGeom>
          <a:noFill/>
        </p:spPr>
        <p:txBody>
          <a:bodyPr wrap="square" lIns="0" tIns="27432" rIns="0" bIns="27432" anchor="t">
            <a:spAutoFit/>
          </a:bodyPr>
          <a:lstStyle/>
          <a:p>
            <a:pPr marL="0" indent="0" algn="l">
              <a:lnSpc>
                <a:spcPct val="100000"/>
              </a:lnSpc>
              <a:spcBef>
                <a:spcPts val="0"/>
              </a:spcBef>
              <a:spcAft>
                <a:spcPts val="0"/>
              </a:spcAft>
              <a:buNone/>
            </a:pPr>
            <a:r>
              <a:rPr sz="1400" b="1" i="1" dirty="0" err="1">
                <a:solidFill>
                  <a:srgbClr val="5A5A5A"/>
                </a:solidFill>
              </a:rPr>
              <a:t>scan_checkpoint</a:t>
            </a:r>
            <a:r>
              <a:rPr sz="1400" b="1" i="1" dirty="0">
                <a:solidFill>
                  <a:srgbClr val="5A5A5A"/>
                </a:solidFill>
              </a:rPr>
              <a:t>() — server-authoritative validation in a single transaction</a:t>
            </a:r>
          </a:p>
        </p:txBody>
      </p:sp>
      <p:sp>
        <p:nvSpPr>
          <p:cNvPr id="10" name="Rounded Rectangle 9"/>
          <p:cNvSpPr/>
          <p:nvPr/>
        </p:nvSpPr>
        <p:spPr>
          <a:xfrm>
            <a:off x="901192" y="2143099"/>
            <a:ext cx="5029200" cy="420624"/>
          </a:xfrm>
          <a:prstGeom prst="roundRect">
            <a:avLst/>
          </a:prstGeom>
          <a:solidFill>
            <a:srgbClr val="E6F9F1"/>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150" b="0" i="0">
                <a:solidFill>
                  <a:srgbClr val="1A1A1A"/>
                </a:solidFill>
              </a:rPr>
              <a:t>Student scans QR sign or enters code (e.g. LIB-A1)</a:t>
            </a:r>
          </a:p>
        </p:txBody>
      </p:sp>
      <p:sp>
        <p:nvSpPr>
          <p:cNvPr id="11" name="Down Arrow 10"/>
          <p:cNvSpPr/>
          <p:nvPr/>
        </p:nvSpPr>
        <p:spPr>
          <a:xfrm>
            <a:off x="3269488" y="2582012"/>
            <a:ext cx="292608" cy="164592"/>
          </a:xfrm>
          <a:prstGeom prst="down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Diamond 11"/>
          <p:cNvSpPr/>
          <p:nvPr/>
        </p:nvSpPr>
        <p:spPr>
          <a:xfrm>
            <a:off x="901192" y="2764892"/>
            <a:ext cx="5029200" cy="548640"/>
          </a:xfrm>
          <a:prstGeom prst="diamond">
            <a:avLst/>
          </a:prstGeom>
          <a:solidFill>
            <a:srgbClr val="FDF3E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050" b="1" i="0">
                <a:solidFill>
                  <a:srgbClr val="1A1A1A"/>
                </a:solidFill>
              </a:rPr>
              <a:t>Checkpoint found &amp; active?</a:t>
            </a:r>
          </a:p>
        </p:txBody>
      </p:sp>
      <p:sp>
        <p:nvSpPr>
          <p:cNvPr id="13" name="Down Arrow 12"/>
          <p:cNvSpPr/>
          <p:nvPr/>
        </p:nvSpPr>
        <p:spPr>
          <a:xfrm>
            <a:off x="3269488" y="3331820"/>
            <a:ext cx="292608" cy="164592"/>
          </a:xfrm>
          <a:prstGeom prst="down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Diamond 13"/>
          <p:cNvSpPr/>
          <p:nvPr/>
        </p:nvSpPr>
        <p:spPr>
          <a:xfrm>
            <a:off x="901192" y="3514700"/>
            <a:ext cx="5029200" cy="548640"/>
          </a:xfrm>
          <a:prstGeom prst="diamond">
            <a:avLst/>
          </a:prstGeom>
          <a:solidFill>
            <a:srgbClr val="FDF3E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050" b="1" i="0">
                <a:solidFill>
                  <a:srgbClr val="1A1A1A"/>
                </a:solidFill>
              </a:rPr>
              <a:t>8-hour cooldown passed?</a:t>
            </a:r>
          </a:p>
        </p:txBody>
      </p:sp>
      <p:sp>
        <p:nvSpPr>
          <p:cNvPr id="15" name="Down Arrow 14"/>
          <p:cNvSpPr/>
          <p:nvPr/>
        </p:nvSpPr>
        <p:spPr>
          <a:xfrm>
            <a:off x="3269488" y="4081628"/>
            <a:ext cx="292608" cy="164592"/>
          </a:xfrm>
          <a:prstGeom prst="down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01192" y="4264508"/>
            <a:ext cx="5029200" cy="548640"/>
          </a:xfrm>
          <a:prstGeom prst="roundRect">
            <a:avLst/>
          </a:prstGeom>
          <a:solidFill>
            <a:srgbClr val="E6F9F1"/>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100" b="0" i="0">
                <a:solidFill>
                  <a:srgbClr val="1A1A1A"/>
                </a:solidFill>
              </a:rPr>
              <a:t>One transaction — award = round(base × multiplier 1.0–2.5); insert scan + append-only ledger</a:t>
            </a:r>
          </a:p>
        </p:txBody>
      </p:sp>
      <p:sp>
        <p:nvSpPr>
          <p:cNvPr id="17" name="Down Arrow 16"/>
          <p:cNvSpPr/>
          <p:nvPr/>
        </p:nvSpPr>
        <p:spPr>
          <a:xfrm>
            <a:off x="3269488" y="4831435"/>
            <a:ext cx="292608" cy="164592"/>
          </a:xfrm>
          <a:prstGeom prst="down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01192" y="5014316"/>
            <a:ext cx="5029200" cy="420624"/>
          </a:xfrm>
          <a:prstGeom prst="roundRect">
            <a:avLst/>
          </a:prstGeom>
          <a:solidFill>
            <a:srgbClr val="E6F9F1"/>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150" b="0" i="0">
                <a:solidFill>
                  <a:srgbClr val="1A1A1A"/>
                </a:solidFill>
              </a:rPr>
              <a:t>Recompute points, streak and level; evaluate badges</a:t>
            </a:r>
          </a:p>
        </p:txBody>
      </p:sp>
      <p:sp>
        <p:nvSpPr>
          <p:cNvPr id="19" name="Down Arrow 18"/>
          <p:cNvSpPr/>
          <p:nvPr/>
        </p:nvSpPr>
        <p:spPr>
          <a:xfrm>
            <a:off x="3269488" y="5453228"/>
            <a:ext cx="292608" cy="164592"/>
          </a:xfrm>
          <a:prstGeom prst="downArrow">
            <a:avLst/>
          </a:prstGeom>
          <a:solidFill>
            <a:srgbClr val="1ECC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901192" y="5636108"/>
            <a:ext cx="5029200" cy="420624"/>
          </a:xfrm>
          <a:prstGeom prst="roundRect">
            <a:avLst/>
          </a:prstGeom>
          <a:solidFill>
            <a:srgbClr val="1ECC8B"/>
          </a:solidFill>
          <a:ln w="19050">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100" b="1" i="0">
                <a:solidFill>
                  <a:srgbClr val="1A1A1A"/>
                </a:solidFill>
              </a:rPr>
              <a:t>Return award → UI shows points, refreshes profile &amp; leaderboard</a:t>
            </a:r>
          </a:p>
        </p:txBody>
      </p:sp>
      <p:sp>
        <p:nvSpPr>
          <p:cNvPr id="21" name="Right Arrow 20"/>
          <p:cNvSpPr/>
          <p:nvPr/>
        </p:nvSpPr>
        <p:spPr>
          <a:xfrm>
            <a:off x="6040120" y="2920340"/>
            <a:ext cx="402336" cy="237744"/>
          </a:xfrm>
          <a:prstGeom prst="rightArrow">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497320" y="2838044"/>
            <a:ext cx="4480560" cy="402336"/>
          </a:xfrm>
          <a:prstGeom prst="roundRect">
            <a:avLst/>
          </a:prstGeom>
          <a:solidFill>
            <a:srgbClr val="FB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050" b="0" i="0">
                <a:solidFill>
                  <a:srgbClr val="C0392B"/>
                </a:solidFill>
              </a:rPr>
              <a:t>REJECT — checkpoint_not_found (code missing or inactive)</a:t>
            </a:r>
          </a:p>
        </p:txBody>
      </p:sp>
      <p:sp>
        <p:nvSpPr>
          <p:cNvPr id="23" name="Right Arrow 22"/>
          <p:cNvSpPr/>
          <p:nvPr/>
        </p:nvSpPr>
        <p:spPr>
          <a:xfrm>
            <a:off x="6040120" y="3670148"/>
            <a:ext cx="402336" cy="237744"/>
          </a:xfrm>
          <a:prstGeom prst="rightArrow">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97320" y="3587852"/>
            <a:ext cx="4480560" cy="402336"/>
          </a:xfrm>
          <a:prstGeom prst="roundRect">
            <a:avLst/>
          </a:prstGeom>
          <a:solidFill>
            <a:srgbClr val="FB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0"/>
              </a:spcAft>
              <a:buNone/>
            </a:pPr>
            <a:r>
              <a:rPr sz="1050" b="0" i="0">
                <a:solidFill>
                  <a:srgbClr val="C0392B"/>
                </a:solidFill>
              </a:rPr>
              <a:t>REJECT — cooldown active, retry in HH:MM (no row written)</a:t>
            </a:r>
          </a:p>
        </p:txBody>
      </p:sp>
      <p:sp>
        <p:nvSpPr>
          <p:cNvPr id="25" name="Rounded Rectangle 24"/>
          <p:cNvSpPr/>
          <p:nvPr/>
        </p:nvSpPr>
        <p:spPr>
          <a:xfrm>
            <a:off x="6497320" y="4474820"/>
            <a:ext cx="4480560" cy="1188720"/>
          </a:xfrm>
          <a:prstGeom prst="roundRect">
            <a:avLst/>
          </a:prstGeom>
          <a:solidFill>
            <a:srgbClr val="FAF5EE"/>
          </a:solidFill>
          <a:ln w="15875">
            <a:solidFill>
              <a:srgbClr val="1ECC8B"/>
            </a:solidFill>
          </a:ln>
          <a:effectLst/>
        </p:spPr>
        <p:style>
          <a:lnRef idx="1">
            <a:schemeClr val="accent1"/>
          </a:lnRef>
          <a:fillRef idx="3">
            <a:schemeClr val="accent1"/>
          </a:fillRef>
          <a:effectRef idx="2">
            <a:schemeClr val="accent1"/>
          </a:effectRef>
          <a:fontRef idx="minor">
            <a:schemeClr val="lt1"/>
          </a:fontRef>
        </p:style>
        <p:txBody>
          <a:bodyPr wrap="square" lIns="128016" tIns="27432" rIns="128016" bIns="27432" rtlCol="0" anchor="ctr"/>
          <a:lstStyle/>
          <a:p>
            <a:pPr marL="0" indent="0" algn="l">
              <a:lnSpc>
                <a:spcPct val="100000"/>
              </a:lnSpc>
              <a:spcBef>
                <a:spcPts val="0"/>
              </a:spcBef>
              <a:spcAft>
                <a:spcPts val="400"/>
              </a:spcAft>
              <a:buNone/>
            </a:pPr>
            <a:r>
              <a:rPr sz="1200" b="1" i="0">
                <a:solidFill>
                  <a:srgbClr val="17795E"/>
                </a:solidFill>
              </a:rPr>
              <a:t>Anti-abuse by design</a:t>
            </a:r>
          </a:p>
          <a:p>
            <a:pPr marL="0" indent="0" algn="l">
              <a:lnSpc>
                <a:spcPct val="100000"/>
              </a:lnSpc>
              <a:spcBef>
                <a:spcPts val="0"/>
              </a:spcBef>
              <a:spcAft>
                <a:spcPts val="0"/>
              </a:spcAft>
              <a:buNone/>
            </a:pPr>
            <a:r>
              <a:rPr sz="1100" b="0" i="0">
                <a:solidFill>
                  <a:srgbClr val="1A1A1A"/>
                </a:solidFill>
              </a:rPr>
              <a:t>8-hour per-user cooldown · code registry · append-only audit trail · one atomic transaction — a modified client cannot mint points.</a:t>
            </a:r>
          </a:p>
        </p:txBody>
      </p:sp>
    </p:spTree>
    <p:extLst>
      <p:ext uri="{BB962C8B-B14F-4D97-AF65-F5344CB8AC3E}">
        <p14:creationId xmlns:p14="http://schemas.microsoft.com/office/powerpoint/2010/main" val="2156271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DB1C-537E-FB1F-4362-7D3C0F60D207}"/>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Challenges</a:t>
            </a:r>
            <a:endParaRPr lang="en-US" dirty="0">
              <a:solidFill>
                <a:schemeClr val="bg2"/>
              </a:solidFill>
            </a:endParaRPr>
          </a:p>
        </p:txBody>
      </p:sp>
      <p:sp>
        <p:nvSpPr>
          <p:cNvPr id="3" name="Content Placeholder 2">
            <a:extLst>
              <a:ext uri="{FF2B5EF4-FFF2-40B4-BE49-F238E27FC236}">
                <a16:creationId xmlns:a16="http://schemas.microsoft.com/office/drawing/2014/main" id="{3A386C90-A221-580A-FFD5-6EB28AF3FB7E}"/>
              </a:ext>
            </a:extLst>
          </p:cNvPr>
          <p:cNvSpPr>
            <a:spLocks noGrp="1"/>
          </p:cNvSpPr>
          <p:nvPr>
            <p:ph idx="1"/>
          </p:nvPr>
        </p:nvSpPr>
        <p:spPr>
          <a:xfrm>
            <a:off x="612648" y="1600200"/>
            <a:ext cx="10972800" cy="4526280"/>
          </a:xfrm>
        </p:spPr>
        <p:txBody>
          <a:bodyPr wrap="square"/>
          <a:lstStyle/>
          <a:p>
            <a:pPr marL="342900" indent="-342900" algn="l">
              <a:lnSpc>
                <a:spcPct val="100000"/>
              </a:lnSpc>
              <a:spcBef>
                <a:spcPts val="600"/>
              </a:spcBef>
              <a:spcAft>
                <a:spcPts val="0"/>
              </a:spcAft>
              <a:buFont typeface="Arial"/>
              <a:buChar char="•"/>
            </a:pPr>
            <a:r>
              <a:rPr sz="2000" b="0" i="0" dirty="0">
                <a:solidFill>
                  <a:srgbClr val="1A1A1A"/>
                </a:solidFill>
              </a:rPr>
              <a:t>Novelty decay — engagement fades within weeks; checkpoint content must be administered as an ongoing </a:t>
            </a:r>
            <a:r>
              <a:rPr sz="2000" b="0" i="0" dirty="0" err="1">
                <a:solidFill>
                  <a:srgbClr val="1A1A1A"/>
                </a:solidFill>
              </a:rPr>
              <a:t>programme</a:t>
            </a:r>
            <a:r>
              <a:rPr sz="2000" b="0" i="0" dirty="0">
                <a:solidFill>
                  <a:srgbClr val="1A1A1A"/>
                </a:solidFill>
              </a:rPr>
              <a:t>, not a one-off installation (Althoff et al., 2016; Li et al., 2021).</a:t>
            </a:r>
            <a:endParaRPr lang="en-US" altLang="zh-CN" sz="4400" dirty="0">
              <a:latin typeface="Times New Roman" panose="02020603050405020304" pitchFamily="18" charset="0"/>
              <a:sym typeface="+mn-ea"/>
            </a:endParaRPr>
          </a:p>
          <a:p>
            <a:pPr marL="342900" indent="-342900" algn="l">
              <a:lnSpc>
                <a:spcPct val="100000"/>
              </a:lnSpc>
              <a:spcBef>
                <a:spcPts val="600"/>
              </a:spcBef>
              <a:spcAft>
                <a:spcPts val="0"/>
              </a:spcAft>
              <a:buFont typeface="Arial"/>
              <a:buChar char="•"/>
            </a:pPr>
            <a:r>
              <a:rPr sz="2000" b="0" i="0" dirty="0">
                <a:solidFill>
                  <a:srgbClr val="1A1A1A"/>
                </a:solidFill>
              </a:rPr>
              <a:t>Bearer QR codes can be shared — mitigated server-side with an 8-hour cooldown, a code registry, anti-double-scan checks and an append-only audit ledger.</a:t>
            </a:r>
          </a:p>
          <a:p>
            <a:pPr marL="342900" indent="-342900" algn="l">
              <a:lnSpc>
                <a:spcPct val="100000"/>
              </a:lnSpc>
              <a:spcBef>
                <a:spcPts val="600"/>
              </a:spcBef>
              <a:spcAft>
                <a:spcPts val="0"/>
              </a:spcAft>
              <a:buFont typeface="Arial"/>
              <a:buChar char="•"/>
            </a:pPr>
            <a:r>
              <a:rPr sz="2000" b="0" i="0" dirty="0">
                <a:solidFill>
                  <a:srgbClr val="1A1A1A"/>
                </a:solidFill>
              </a:rPr>
              <a:t>Leaderboards can demotivate bottom-ranked users — addressed with bounded weekly leagues, club totals and no permanent global table.</a:t>
            </a:r>
          </a:p>
          <a:p>
            <a:pPr marL="342900" indent="-342900" algn="l">
              <a:lnSpc>
                <a:spcPct val="100000"/>
              </a:lnSpc>
              <a:spcBef>
                <a:spcPts val="600"/>
              </a:spcBef>
              <a:spcAft>
                <a:spcPts val="0"/>
              </a:spcAft>
              <a:buFont typeface="Arial"/>
              <a:buChar char="•"/>
            </a:pPr>
            <a:r>
              <a:rPr sz="2000" b="0" i="0" dirty="0">
                <a:solidFill>
                  <a:srgbClr val="1A1A1A"/>
                </a:solidFill>
              </a:rPr>
              <a:t>No custom backend — validation, rollups and badge rules had to live inside Postgres functions under row-level security.</a:t>
            </a:r>
          </a:p>
          <a:p>
            <a:pPr marL="342900" indent="-342900" algn="l">
              <a:lnSpc>
                <a:spcPct val="100000"/>
              </a:lnSpc>
              <a:spcBef>
                <a:spcPts val="600"/>
              </a:spcBef>
              <a:spcAft>
                <a:spcPts val="0"/>
              </a:spcAft>
              <a:buFont typeface="Arial"/>
              <a:buChar char="•"/>
            </a:pPr>
            <a:r>
              <a:rPr sz="2000" b="0" i="0" dirty="0">
                <a:solidFill>
                  <a:srgbClr val="1A1A1A"/>
                </a:solidFill>
              </a:rPr>
              <a:t>Weak campus connectivity — handled by an installable PWA with a precached shell, plus demo mode when credentials are absent.</a:t>
            </a:r>
          </a:p>
          <a:p>
            <a:pPr marL="342900" indent="-342900" algn="l">
              <a:lnSpc>
                <a:spcPct val="100000"/>
              </a:lnSpc>
              <a:spcBef>
                <a:spcPts val="600"/>
              </a:spcBef>
              <a:spcAft>
                <a:spcPts val="0"/>
              </a:spcAft>
              <a:buFont typeface="Arial"/>
              <a:buChar char="•"/>
            </a:pPr>
            <a:r>
              <a:rPr sz="2000" b="0" i="0" dirty="0">
                <a:solidFill>
                  <a:srgbClr val="1A1A1A"/>
                </a:solidFill>
              </a:rPr>
              <a:t>Evaluation boundaries — single campus, short observation window, no control group; claims are stated narrowly with mitigations (Section 3.8).</a:t>
            </a:r>
          </a:p>
        </p:txBody>
      </p:sp>
      <p:sp>
        <p:nvSpPr>
          <p:cNvPr id="4" name="Date Placeholder 3">
            <a:extLst>
              <a:ext uri="{FF2B5EF4-FFF2-40B4-BE49-F238E27FC236}">
                <a16:creationId xmlns:a16="http://schemas.microsoft.com/office/drawing/2014/main" id="{8531FEBA-0B27-7CAB-D40C-DDFB5DF5ADB3}"/>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735FE2F2-16C4-3CA6-A52D-9A30616C3AE5}"/>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8</a:t>
            </a:fld>
            <a:endParaRPr lang="en-US" altLang="en-US">
              <a:ea typeface="MS PGothic" panose="020B0600070205080204" pitchFamily="34" charset="-12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DB1C-537E-FB1F-4362-7D3C0F60D207}"/>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Conclusion and Recommendation</a:t>
            </a:r>
            <a:endParaRPr lang="en-US" dirty="0">
              <a:solidFill>
                <a:schemeClr val="bg2"/>
              </a:solidFill>
            </a:endParaRPr>
          </a:p>
        </p:txBody>
      </p:sp>
      <p:sp>
        <p:nvSpPr>
          <p:cNvPr id="3" name="Content Placeholder 2">
            <a:extLst>
              <a:ext uri="{FF2B5EF4-FFF2-40B4-BE49-F238E27FC236}">
                <a16:creationId xmlns:a16="http://schemas.microsoft.com/office/drawing/2014/main" id="{3A386C90-A221-580A-FFD5-6EB28AF3FB7E}"/>
              </a:ext>
            </a:extLst>
          </p:cNvPr>
          <p:cNvSpPr>
            <a:spLocks noGrp="1"/>
          </p:cNvSpPr>
          <p:nvPr>
            <p:ph idx="1"/>
          </p:nvPr>
        </p:nvSpPr>
        <p:spPr>
          <a:xfrm>
            <a:off x="612648" y="1600200"/>
            <a:ext cx="10972800" cy="4526280"/>
          </a:xfrm>
        </p:spPr>
        <p:txBody>
          <a:bodyPr wrap="square"/>
          <a:lstStyle/>
          <a:p>
            <a:pPr marL="0" indent="0" algn="l">
              <a:lnSpc>
                <a:spcPct val="100000"/>
              </a:lnSpc>
              <a:spcBef>
                <a:spcPts val="1000"/>
              </a:spcBef>
              <a:spcAft>
                <a:spcPts val="0"/>
              </a:spcAft>
              <a:buNone/>
            </a:pPr>
            <a:r>
              <a:rPr sz="2400" b="1" i="0" dirty="0"/>
              <a:t>Conclusion</a:t>
            </a:r>
            <a:endParaRPr lang="en-US" altLang="zh-CN" sz="4000" b="1" dirty="0">
              <a:latin typeface="Times New Roman" panose="02020603050405020304" pitchFamily="18" charset="0"/>
              <a:sym typeface="+mn-ea"/>
            </a:endParaRPr>
          </a:p>
          <a:p>
            <a:pPr marL="342900" indent="-342900" algn="l">
              <a:lnSpc>
                <a:spcPct val="100000"/>
              </a:lnSpc>
              <a:spcBef>
                <a:spcPts val="600"/>
              </a:spcBef>
              <a:spcAft>
                <a:spcPts val="0"/>
              </a:spcAft>
              <a:buFont typeface="Arial"/>
              <a:buChar char="•"/>
            </a:pPr>
            <a:r>
              <a:rPr sz="1800" b="0" i="0" dirty="0" err="1">
                <a:solidFill>
                  <a:srgbClr val="1A1A1A"/>
                </a:solidFill>
              </a:rPr>
              <a:t>CampusFit</a:t>
            </a:r>
            <a:r>
              <a:rPr sz="1800" b="0" i="0" dirty="0">
                <a:solidFill>
                  <a:srgbClr val="1A1A1A"/>
                </a:solidFill>
              </a:rPr>
              <a:t> converts campus geography into a fitness instrument — participatory, auditable and governable.</a:t>
            </a:r>
          </a:p>
          <a:p>
            <a:pPr marL="342900" indent="-342900" algn="l">
              <a:lnSpc>
                <a:spcPct val="100000"/>
              </a:lnSpc>
              <a:spcBef>
                <a:spcPts val="600"/>
              </a:spcBef>
              <a:spcAft>
                <a:spcPts val="0"/>
              </a:spcAft>
              <a:buFont typeface="Arial"/>
              <a:buChar char="•"/>
            </a:pPr>
            <a:r>
              <a:rPr sz="1800" b="0" i="0" dirty="0">
                <a:solidFill>
                  <a:srgbClr val="1A1A1A"/>
                </a:solidFill>
              </a:rPr>
              <a:t>Six verified findings: 29/29 routes with zero console errors · 9/9 end-to-end checks including anti-replay · interface fidelity 0.910 · ~207 kB first load with offline shell · no high-severity usability defects · progression curve validated in simulation.</a:t>
            </a:r>
          </a:p>
          <a:p>
            <a:pPr marL="0" indent="0" algn="l">
              <a:lnSpc>
                <a:spcPct val="100000"/>
              </a:lnSpc>
              <a:spcBef>
                <a:spcPts val="1000"/>
              </a:spcBef>
              <a:spcAft>
                <a:spcPts val="0"/>
              </a:spcAft>
              <a:buNone/>
            </a:pPr>
            <a:r>
              <a:rPr sz="2400" b="1" i="0" dirty="0"/>
              <a:t>Recommendations</a:t>
            </a:r>
          </a:p>
          <a:p>
            <a:pPr marL="342900" indent="-342900" algn="l">
              <a:lnSpc>
                <a:spcPct val="100000"/>
              </a:lnSpc>
              <a:spcBef>
                <a:spcPts val="600"/>
              </a:spcBef>
              <a:spcAft>
                <a:spcPts val="0"/>
              </a:spcAft>
              <a:buFont typeface="Arial"/>
              <a:buChar char="•"/>
            </a:pPr>
            <a:r>
              <a:rPr sz="1800" b="0" i="0" dirty="0">
                <a:solidFill>
                  <a:srgbClr val="1A1A1A"/>
                </a:solidFill>
              </a:rPr>
              <a:t>Practice — treat checkpoints as a continuous </a:t>
            </a:r>
            <a:r>
              <a:rPr sz="1800" b="0" i="0" dirty="0" err="1">
                <a:solidFill>
                  <a:srgbClr val="1A1A1A"/>
                </a:solidFill>
              </a:rPr>
              <a:t>programme</a:t>
            </a:r>
            <a:r>
              <a:rPr sz="1800" b="0" i="0" dirty="0">
                <a:solidFill>
                  <a:srgbClr val="1A1A1A"/>
                </a:solidFill>
              </a:rPr>
              <a:t>, place them where students already go, keep leaderboards weekly, audit the ledger.</a:t>
            </a:r>
          </a:p>
          <a:p>
            <a:pPr marL="342900" indent="-342900" algn="l">
              <a:lnSpc>
                <a:spcPct val="100000"/>
              </a:lnSpc>
              <a:spcBef>
                <a:spcPts val="600"/>
              </a:spcBef>
              <a:spcAft>
                <a:spcPts val="0"/>
              </a:spcAft>
              <a:buFont typeface="Arial"/>
              <a:buChar char="•"/>
            </a:pPr>
            <a:r>
              <a:rPr sz="1800" b="0" i="0" dirty="0">
                <a:solidFill>
                  <a:srgbClr val="1A1A1A"/>
                </a:solidFill>
              </a:rPr>
              <a:t>Research — run the SUS pilot with a larger sample, add a gamified-vs-tracking comparison, </a:t>
            </a:r>
            <a:r>
              <a:rPr sz="1800" b="0" i="0" dirty="0" err="1">
                <a:solidFill>
                  <a:srgbClr val="1A1A1A"/>
                </a:solidFill>
              </a:rPr>
              <a:t>analyse</a:t>
            </a:r>
            <a:r>
              <a:rPr sz="1800" b="0" i="0" dirty="0">
                <a:solidFill>
                  <a:srgbClr val="1A1A1A"/>
                </a:solidFill>
              </a:rPr>
              <a:t> the points ledger longitudinally, replicate across campuses.</a:t>
            </a:r>
          </a:p>
          <a:p>
            <a:pPr marL="342900" indent="-342900" algn="l">
              <a:lnSpc>
                <a:spcPct val="100000"/>
              </a:lnSpc>
              <a:spcBef>
                <a:spcPts val="600"/>
              </a:spcBef>
              <a:spcAft>
                <a:spcPts val="0"/>
              </a:spcAft>
              <a:buFont typeface="Arial"/>
              <a:buChar char="•"/>
            </a:pPr>
            <a:r>
              <a:rPr sz="1800" b="0" i="0" dirty="0">
                <a:solidFill>
                  <a:srgbClr val="1A1A1A"/>
                </a:solidFill>
              </a:rPr>
              <a:t>Policy — name a ledger steward, set retention rules for </a:t>
            </a:r>
            <a:r>
              <a:rPr sz="1800" b="0" i="0" dirty="0" err="1">
                <a:solidFill>
                  <a:srgbClr val="1A1A1A"/>
                </a:solidFill>
              </a:rPr>
              <a:t>behavioural</a:t>
            </a:r>
            <a:r>
              <a:rPr sz="1800" b="0" i="0" dirty="0">
                <a:solidFill>
                  <a:srgbClr val="1A1A1A"/>
                </a:solidFill>
              </a:rPr>
              <a:t> data, and review ranking fairness annually.</a:t>
            </a:r>
          </a:p>
        </p:txBody>
      </p:sp>
      <p:sp>
        <p:nvSpPr>
          <p:cNvPr id="4" name="Date Placeholder 3">
            <a:extLst>
              <a:ext uri="{FF2B5EF4-FFF2-40B4-BE49-F238E27FC236}">
                <a16:creationId xmlns:a16="http://schemas.microsoft.com/office/drawing/2014/main" id="{8531FEBA-0B27-7CAB-D40C-DDFB5DF5ADB3}"/>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735FE2F2-16C4-3CA6-A52D-9A30616C3AE5}"/>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9</a:t>
            </a:fld>
            <a:endParaRPr lang="en-US" altLang="en-US">
              <a:ea typeface="MS PGothic" panose="020B0600070205080204" pitchFamily="34"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lstStyle/>
          <a:p>
            <a:pPr eaLnBrk="1" hangingPunct="1"/>
            <a:r>
              <a:rPr lang="en-US" sz="2000" b="1" dirty="0">
                <a:solidFill>
                  <a:schemeClr val="bg1"/>
                </a:solidFill>
                <a:latin typeface="Times New Roman" panose="02020603050405020304" pitchFamily="18" charset="0"/>
                <a:ea typeface="Times New Roman" panose="02020603050405020304" pitchFamily="18" charset="0"/>
              </a:rPr>
              <a:t>DEMO VIDEO</a:t>
            </a:r>
            <a:br>
              <a:rPr lang="en-GB" sz="2000" b="1" dirty="0">
                <a:solidFill>
                  <a:schemeClr val="bg1"/>
                </a:solidFill>
                <a:latin typeface="Times New Roman" panose="02020603050405020304" pitchFamily="18" charset="0"/>
                <a:ea typeface="Times New Roman" panose="02020603050405020304" pitchFamily="18" charset="0"/>
              </a:rPr>
            </a:b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1602658" y="1182329"/>
            <a:ext cx="8738419" cy="3891116"/>
          </a:xfrm>
        </p:spPr>
        <p:txBody>
          <a:bodyPr vert="horz" wrap="square" lIns="91440" tIns="45720" rIns="91440" bIns="45720" anchor="t" anchorCtr="0"/>
          <a:lstStyle/>
          <a:p>
            <a:pPr eaLnBrk="1" hangingPunct="1">
              <a:buClrTx/>
              <a:buSzTx/>
            </a:pP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10/7/2026</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10</a:t>
            </a:fld>
            <a:endParaRPr lang="en-US" altLang="en-US" dirty="0">
              <a:latin typeface="Calibri" panose="020F0502020204030204" pitchFamily="34" charset="0"/>
              <a:ea typeface="MS PGothic" panose="020B0600070205080204" pitchFamily="34" charset="-128"/>
            </a:endParaRPr>
          </a:p>
        </p:txBody>
      </p:sp>
      <p:sp>
        <p:nvSpPr>
          <p:cNvPr id="3076" name="Rounded Rectangle 3075"/>
          <p:cNvSpPr/>
          <p:nvPr/>
        </p:nvSpPr>
        <p:spPr>
          <a:xfrm>
            <a:off x="2116983" y="1182329"/>
            <a:ext cx="7315200" cy="4069080"/>
          </a:xfrm>
          <a:prstGeom prst="roundRect">
            <a:avLst>
              <a:gd name="adj" fmla="val 6000"/>
            </a:avLst>
          </a:prstGeom>
          <a:solidFill>
            <a:srgbClr val="FAF5EE"/>
          </a:solidFill>
          <a:ln w="22225">
            <a:solidFill>
              <a:srgbClr val="1ECC8B"/>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marL="0" indent="0" algn="ctr">
              <a:lnSpc>
                <a:spcPct val="100000"/>
              </a:lnSpc>
              <a:spcBef>
                <a:spcPts val="0"/>
              </a:spcBef>
              <a:spcAft>
                <a:spcPts val="1000"/>
              </a:spcAft>
              <a:buNone/>
            </a:pPr>
            <a:r>
              <a:rPr sz="3000" b="1" i="0" dirty="0">
                <a:solidFill>
                  <a:srgbClr val="17795E"/>
                </a:solidFill>
              </a:rPr>
              <a:t>▶  DEMO VIDEO</a:t>
            </a:r>
          </a:p>
          <a:p>
            <a:pPr marL="0" indent="0" algn="ctr">
              <a:lnSpc>
                <a:spcPct val="100000"/>
              </a:lnSpc>
              <a:spcBef>
                <a:spcPts val="0"/>
              </a:spcBef>
              <a:spcAft>
                <a:spcPts val="0"/>
              </a:spcAft>
              <a:buNone/>
            </a:pPr>
            <a:r>
              <a:rPr sz="1400" b="0" i="0" dirty="0">
                <a:solidFill>
                  <a:srgbClr val="5A5A5A"/>
                </a:solidFill>
              </a:rPr>
              <a:t>Reserved for the demo — insert the video here</a:t>
            </a:r>
          </a:p>
          <a:p>
            <a:pPr marL="0" indent="0" algn="ctr">
              <a:lnSpc>
                <a:spcPct val="100000"/>
              </a:lnSpc>
              <a:spcBef>
                <a:spcPts val="600"/>
              </a:spcBef>
              <a:spcAft>
                <a:spcPts val="0"/>
              </a:spcAft>
              <a:buNone/>
            </a:pPr>
            <a:r>
              <a:rPr sz="1150" b="0" i="0" dirty="0">
                <a:solidFill>
                  <a:srgbClr val="5A5A5A"/>
                </a:solidFill>
              </a:rPr>
              <a:t>(Insert → Video → This device)</a:t>
            </a:r>
          </a:p>
        </p:txBody>
      </p:sp>
      <p:sp>
        <p:nvSpPr>
          <p:cNvPr id="3077" name="TextBox 3076"/>
          <p:cNvSpPr txBox="1"/>
          <p:nvPr/>
        </p:nvSpPr>
        <p:spPr>
          <a:xfrm>
            <a:off x="822960" y="5532120"/>
            <a:ext cx="10515600" cy="548640"/>
          </a:xfrm>
          <a:prstGeom prst="rect">
            <a:avLst/>
          </a:prstGeom>
          <a:noFill/>
        </p:spPr>
        <p:txBody>
          <a:bodyPr wrap="square" lIns="0" tIns="27432" rIns="0" bIns="27432" anchor="t">
            <a:spAutoFit/>
          </a:bodyPr>
          <a:lstStyle/>
          <a:p>
            <a:pPr marL="0" indent="0" algn="ctr">
              <a:lnSpc>
                <a:spcPct val="100000"/>
              </a:lnSpc>
              <a:spcBef>
                <a:spcPts val="0"/>
              </a:spcBef>
              <a:spcAft>
                <a:spcPts val="0"/>
              </a:spcAft>
              <a:buNone/>
            </a:pPr>
            <a:r>
              <a:rPr sz="1300" b="0" i="0">
                <a:solidFill>
                  <a:srgbClr val="5A5A5A"/>
                </a:solidFill>
              </a:rPr>
              <a:t>Walkthrough: sign-up &amp; OTP → dashboard → scan LIB-A1 → points, streak &amp; badges → weekly leaderboard → FitTrips &amp; FitClips → admin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1813</Words>
  <Application>Microsoft Office PowerPoint</Application>
  <PresentationFormat>Widescreen</PresentationFormat>
  <Paragraphs>133</Paragraphs>
  <Slides>10</Slides>
  <Notes>10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10</vt:i4>
      </vt:variant>
    </vt:vector>
  </HeadingPairs>
  <TitlesOfParts>
    <vt:vector size="18" baseType="lpstr">
      <vt:lpstr>MS PGothic</vt:lpstr>
      <vt:lpstr>Aptos</vt:lpstr>
      <vt:lpstr>Aptos Display</vt:lpstr>
      <vt:lpstr>Arial</vt:lpstr>
      <vt:lpstr>Calibri</vt:lpstr>
      <vt:lpstr>Times New Roman</vt:lpstr>
      <vt:lpstr>Office Theme</vt:lpstr>
      <vt:lpstr>1_Office Theme</vt:lpstr>
      <vt:lpstr>FINAL YEAR PROJECT PRESENTATION &amp; DEMO </vt:lpstr>
      <vt:lpstr>Introduction</vt:lpstr>
      <vt:lpstr>Problems</vt:lpstr>
      <vt:lpstr>Proposed Solution</vt:lpstr>
      <vt:lpstr>Objectives</vt:lpstr>
      <vt:lpstr>System Diagram</vt:lpstr>
      <vt:lpstr>Flowchart</vt:lpstr>
      <vt:lpstr>Challenges</vt:lpstr>
      <vt:lpstr>Conclusion and Recommendation</vt:lpstr>
      <vt:lpstr>DEMO VIDEO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CampusFit — Final Year Project Defence</dc:title>
  <dc:subject>Gamified, checkpoint-based campus fitness application</dc:subject>
  <dc:creator>Daniel Ntiawuku</dc:creator>
  <cp:lastModifiedBy>Saijah Daniel Kofi</cp:lastModifiedBy>
  <cp:revision>5</cp:revision>
  <dcterms:created xsi:type="dcterms:W3CDTF">2025-09-15T15:38:40Z</dcterms:created>
  <dcterms:modified xsi:type="dcterms:W3CDTF">2026-10-07T23:09:23Z</dcterms:modified>
</cp:coreProperties>
</file>