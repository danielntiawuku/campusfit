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0"/>
  </p:notesMasterIdLst>
  <p:sldIdLst>
    <p:sldId id="258" r:id="rId2"/>
    <p:sldId id="259" r:id="rId3"/>
    <p:sldId id="260" r:id="rId4"/>
    <p:sldId id="261" r:id="rId5"/>
    <p:sldId id="262" r:id="rId6"/>
    <p:sldId id="263" r:id="rId7"/>
    <p:sldId id="264" r:id="rId8"/>
    <p:sldId id="2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65" d="100"/>
          <a:sy n="65" d="100"/>
        </p:scale>
        <p:origin x="724" y="-18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Introduction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 the late 1990s, different theories in the mobility literature emerged  (Castles &amp; Miller, 1998) to explain the growing trend of international mobility as well as the reasons and processes that drive human mobility (de Haas, 2010; Sheller &amp; Urry, 2016). </a:t>
            </a:r>
          </a:p>
          <a:p>
            <a:r>
              <a:rPr lang="en-US" sz="1200" kern="1200" dirty="0">
                <a:solidFill>
                  <a:schemeClr val="tx1"/>
                </a:solidFill>
                <a:effectLst/>
                <a:latin typeface="+mn-lt"/>
                <a:ea typeface="+mn-ea"/>
                <a:cs typeface="+mn-cs"/>
              </a:rPr>
              <a:t>In recent years, however, studies of immobile populations have garnered academic attention, considering the fact that approximately 281 million international migrants, 3.6% of the world’s population, is on the move globally (IOM, 2024). This means about 96.4% of the world’s population is immobile.</a:t>
            </a:r>
          </a:p>
          <a:p>
            <a:r>
              <a:rPr lang="en-US" sz="1200" kern="1200" dirty="0">
                <a:solidFill>
                  <a:schemeClr val="tx1"/>
                </a:solidFill>
                <a:effectLst/>
                <a:latin typeface="+mn-lt"/>
                <a:ea typeface="+mn-ea"/>
                <a:cs typeface="+mn-cs"/>
              </a:rPr>
              <a:t> Drawing on the current figures of immobile population,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argues that there is a ‘mobility </a:t>
            </a:r>
            <a:r>
              <a:rPr lang="en-US" sz="1200" kern="1200" dirty="0" err="1">
                <a:solidFill>
                  <a:schemeClr val="tx1"/>
                </a:solidFill>
                <a:effectLst/>
                <a:latin typeface="+mn-lt"/>
                <a:ea typeface="+mn-ea"/>
                <a:cs typeface="+mn-cs"/>
              </a:rPr>
              <a:t>bias’</a:t>
            </a:r>
            <a:r>
              <a:rPr lang="en-US" sz="1200" kern="1200" dirty="0">
                <a:solidFill>
                  <a:schemeClr val="tx1"/>
                </a:solidFill>
                <a:effectLst/>
                <a:latin typeface="+mn-lt"/>
                <a:ea typeface="+mn-ea"/>
                <a:cs typeface="+mn-cs"/>
              </a:rPr>
              <a:t> which is an overemphasis on theoretical and empirical research on the causes and consequences of mobility and migration. </a:t>
            </a:r>
          </a:p>
          <a:p>
            <a:r>
              <a:rPr lang="en-US" sz="1200" kern="1200" dirty="0">
                <a:solidFill>
                  <a:schemeClr val="tx1"/>
                </a:solidFill>
                <a:effectLst/>
                <a:latin typeface="+mn-lt"/>
                <a:ea typeface="+mn-ea"/>
                <a:cs typeface="+mn-cs"/>
              </a:rPr>
              <a:t>Given the recognition that the majority of the global population remains immobile, a number of scholars such as Carling (2002),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(2018),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Salazar (2021), and Stock (2019) have turned their attention to this group of people seeking to better understand the phenomenon and its consequences. </a:t>
            </a:r>
          </a:p>
          <a:p>
            <a:r>
              <a:rPr lang="en-US"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3</a:t>
            </a:fld>
            <a:endParaRPr lang="en-US"/>
          </a:p>
        </p:txBody>
      </p:sp>
    </p:spTree>
    <p:extLst>
      <p:ext uri="{BB962C8B-B14F-4D97-AF65-F5344CB8AC3E}">
        <p14:creationId xmlns:p14="http://schemas.microsoft.com/office/powerpoint/2010/main" val="4075142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Problem Statement</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1.  Carling (2002) puts immobility into three distinct categories: voluntary mobility, involuntary immobility and voluntary immobility.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further advanced Carling’s three categories of immobility by introducing acquiescent immobility. Even though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identified the categories of immobility, they did not </a:t>
            </a:r>
            <a:r>
              <a:rPr lang="en-US" sz="1200" kern="1200" dirty="0" err="1">
                <a:solidFill>
                  <a:schemeClr val="tx1"/>
                </a:solidFill>
                <a:effectLst/>
                <a:latin typeface="+mn-lt"/>
                <a:ea typeface="+mn-ea"/>
                <a:cs typeface="+mn-cs"/>
              </a:rPr>
              <a:t>conceptualise</a:t>
            </a:r>
            <a:r>
              <a:rPr lang="en-US" sz="1200" kern="1200" dirty="0">
                <a:solidFill>
                  <a:schemeClr val="tx1"/>
                </a:solidFill>
                <a:effectLst/>
                <a:latin typeface="+mn-lt"/>
                <a:ea typeface="+mn-ea"/>
                <a:cs typeface="+mn-cs"/>
              </a:rPr>
              <a:t> the possibility of transitioning through them.</a:t>
            </a:r>
          </a:p>
          <a:p>
            <a:r>
              <a:rPr lang="en-US" sz="1200" kern="1200" dirty="0">
                <a:solidFill>
                  <a:schemeClr val="tx1"/>
                </a:solidFill>
                <a:effectLst/>
                <a:latin typeface="+mn-lt"/>
                <a:ea typeface="+mn-ea"/>
                <a:cs typeface="+mn-cs"/>
              </a:rPr>
              <a:t>2.  A second extension of the literature on immobility focused on transitions. For instance, the works of Roderiguez-Pena (2023), </a:t>
            </a:r>
            <a:r>
              <a:rPr lang="en-US" sz="1200" kern="1200" dirty="0" err="1">
                <a:solidFill>
                  <a:schemeClr val="tx1"/>
                </a:solidFill>
                <a:effectLst/>
                <a:latin typeface="+mn-lt"/>
                <a:ea typeface="+mn-ea"/>
                <a:cs typeface="+mn-cs"/>
              </a:rPr>
              <a:t>Setrana</a:t>
            </a:r>
            <a:r>
              <a:rPr lang="en-US" sz="1200" kern="1200" dirty="0">
                <a:solidFill>
                  <a:schemeClr val="tx1"/>
                </a:solidFill>
                <a:effectLst/>
                <a:latin typeface="+mn-lt"/>
                <a:ea typeface="+mn-ea"/>
                <a:cs typeface="+mn-cs"/>
              </a:rPr>
              <a:t> (2021) demonstrate that it is possible to transition through the four immobility categories identified by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but focused only on involuntary immobility and voluntary immobility. </a:t>
            </a:r>
          </a:p>
          <a:p>
            <a:r>
              <a:rPr lang="en-US" sz="1200" kern="1200" dirty="0">
                <a:solidFill>
                  <a:schemeClr val="tx1"/>
                </a:solidFill>
                <a:effectLst/>
                <a:latin typeface="+mn-lt"/>
                <a:ea typeface="+mn-ea"/>
                <a:cs typeface="+mn-cs"/>
              </a:rPr>
              <a:t>3.  Salazar (2021) is also of the view that immobility should be seen as both an analytical concept and lived experience.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4</a:t>
            </a:fld>
            <a:endParaRPr lang="en-US"/>
          </a:p>
        </p:txBody>
      </p:sp>
    </p:spTree>
    <p:extLst>
      <p:ext uri="{BB962C8B-B14F-4D97-AF65-F5344CB8AC3E}">
        <p14:creationId xmlns:p14="http://schemas.microsoft.com/office/powerpoint/2010/main" val="204439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While there is the recognition that transitioning between mobility and immobility is possible, transitioning between the various categories of immobility has not been explored.</a:t>
            </a:r>
          </a:p>
          <a:p>
            <a:r>
              <a:rPr lang="en-US" sz="1200" kern="1200" dirty="0">
                <a:solidFill>
                  <a:schemeClr val="tx1"/>
                </a:solidFill>
                <a:effectLst/>
                <a:latin typeface="+mn-lt"/>
                <a:ea typeface="+mn-ea"/>
                <a:cs typeface="+mn-cs"/>
              </a:rPr>
              <a:t>This thesis intends to take the concept of transitioning further in two ways.  First, it explores transitioning between voluntary mobility and involuntary immobility. Second, it seeks to examine the process of transitioning through the various categories of immobility identified by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5</a:t>
            </a:fld>
            <a:endParaRPr lang="en-US"/>
          </a:p>
        </p:txBody>
      </p:sp>
    </p:spTree>
    <p:extLst>
      <p:ext uri="{BB962C8B-B14F-4D97-AF65-F5344CB8AC3E}">
        <p14:creationId xmlns:p14="http://schemas.microsoft.com/office/powerpoint/2010/main" val="835231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The main objective of </a:t>
            </a:r>
            <a:r>
              <a:rPr lang="en-GB" dirty="0">
                <a:latin typeface="Times New Roman" panose="02020603050405020304" pitchFamily="18" charset="0"/>
                <a:cs typeface="Times New Roman" panose="02020603050405020304" pitchFamily="18" charset="0"/>
              </a:rPr>
              <a:t>this study is to explore the mobility and immobility experiences of convicted drug mules in Ghana.</a:t>
            </a:r>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tandem with this, the specific objectives of the study are:</a:t>
            </a:r>
            <a:endParaRPr lang="en-US" sz="1200" kern="1200" dirty="0">
              <a:solidFill>
                <a:schemeClr val="tx1"/>
              </a:solidFill>
              <a:effectLst/>
              <a:latin typeface="+mn-lt"/>
              <a:ea typeface="+mn-ea"/>
              <a:cs typeface="+mn-cs"/>
            </a:endParaRPr>
          </a:p>
          <a:p>
            <a:r>
              <a:rPr lang="en-US" dirty="0"/>
              <a:t> </a:t>
            </a:r>
          </a:p>
        </p:txBody>
      </p:sp>
      <p:sp>
        <p:nvSpPr>
          <p:cNvPr id="4" name="Slide Number Placeholder 3"/>
          <p:cNvSpPr>
            <a:spLocks noGrp="1"/>
          </p:cNvSpPr>
          <p:nvPr>
            <p:ph type="sldNum" sz="quarter" idx="5"/>
          </p:nvPr>
        </p:nvSpPr>
        <p:spPr/>
        <p:txBody>
          <a:bodyPr/>
          <a:lstStyle/>
          <a:p>
            <a:fld id="{F966F616-72DA-4E4B-BAA1-BBB42A78663A}" type="slidenum">
              <a:rPr lang="en-US" smtClean="0"/>
              <a:t>6</a:t>
            </a:fld>
            <a:endParaRPr lang="en-US"/>
          </a:p>
        </p:txBody>
      </p:sp>
    </p:spTree>
    <p:extLst>
      <p:ext uri="{BB962C8B-B14F-4D97-AF65-F5344CB8AC3E}">
        <p14:creationId xmlns:p14="http://schemas.microsoft.com/office/powerpoint/2010/main" val="40576163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Methodology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Phenomenology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My philosophical positioning aligned with hermeneutic phenomenology since I </a:t>
            </a:r>
            <a:r>
              <a:rPr lang="en-US" sz="1200" kern="1200" dirty="0" err="1">
                <a:solidFill>
                  <a:schemeClr val="tx1"/>
                </a:solidFill>
                <a:effectLst/>
                <a:latin typeface="+mn-lt"/>
                <a:ea typeface="+mn-ea"/>
                <a:cs typeface="+mn-cs"/>
              </a:rPr>
              <a:t>saught</a:t>
            </a:r>
            <a:r>
              <a:rPr lang="en-US" sz="1200" kern="1200" dirty="0">
                <a:solidFill>
                  <a:schemeClr val="tx1"/>
                </a:solidFill>
                <a:effectLst/>
                <a:latin typeface="+mn-lt"/>
                <a:ea typeface="+mn-ea"/>
                <a:cs typeface="+mn-cs"/>
              </a:rPr>
              <a:t> to understand how individuals make meaning of their voluntary and involuntary immobility. </a:t>
            </a:r>
          </a:p>
          <a:p>
            <a:r>
              <a:rPr lang="en-US" sz="1200" b="1" kern="1200" dirty="0">
                <a:solidFill>
                  <a:schemeClr val="tx1"/>
                </a:solidFill>
                <a:effectLst/>
                <a:latin typeface="+mn-lt"/>
                <a:ea typeface="+mn-ea"/>
                <a:cs typeface="+mn-cs"/>
              </a:rPr>
              <a:t>Qualitative approach</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Given the sensitive and complex nature of drug trafficking and incarceration, the qualitative research design was deemed most appropriate to understand the complex realities of convicted drug mules, an insight that will be overlooked in a purely quantitative approach</a:t>
            </a:r>
          </a:p>
          <a:p>
            <a:r>
              <a:rPr lang="en-US" sz="1200" kern="1200" dirty="0">
                <a:solidFill>
                  <a:schemeClr val="tx1"/>
                </a:solidFill>
                <a:effectLst/>
                <a:latin typeface="+mn-lt"/>
                <a:ea typeface="+mn-ea"/>
                <a:cs typeface="+mn-cs"/>
              </a:rPr>
              <a:t>The methodological orientation that best suits the purpose of my research is the Interpretative Phenomenological Analysis (IPA). IPA is a qualitative research approach developed by Smith (2011) within psychology to explore how individuals make sense of their lived experiences (Moran, 2013). </a:t>
            </a:r>
          </a:p>
          <a:p>
            <a:r>
              <a:rPr lang="en-US" sz="1200" b="1" kern="1200" dirty="0">
                <a:solidFill>
                  <a:schemeClr val="tx1"/>
                </a:solidFill>
                <a:effectLst/>
                <a:latin typeface="+mn-lt"/>
                <a:ea typeface="+mn-ea"/>
                <a:cs typeface="+mn-cs"/>
              </a:rPr>
              <a:t>Study population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Convicted drug mules (males and females)</a:t>
            </a:r>
          </a:p>
          <a:p>
            <a:r>
              <a:rPr lang="en-US" sz="1200" kern="1200" dirty="0">
                <a:solidFill>
                  <a:schemeClr val="tx1"/>
                </a:solidFill>
                <a:effectLst/>
                <a:latin typeface="+mn-lt"/>
                <a:ea typeface="+mn-ea"/>
                <a:cs typeface="+mn-cs"/>
              </a:rPr>
              <a:t>Ghanaians and foreign nationals</a:t>
            </a:r>
          </a:p>
          <a:p>
            <a:r>
              <a:rPr lang="en-US" sz="1200" kern="1200" dirty="0">
                <a:solidFill>
                  <a:schemeClr val="tx1"/>
                </a:solidFill>
                <a:effectLst/>
                <a:latin typeface="+mn-lt"/>
                <a:ea typeface="+mn-ea"/>
                <a:cs typeface="+mn-cs"/>
              </a:rPr>
              <a:t>18 years and above</a:t>
            </a:r>
          </a:p>
          <a:p>
            <a:r>
              <a:rPr lang="en-US" sz="1200" kern="1200" dirty="0">
                <a:solidFill>
                  <a:schemeClr val="tx1"/>
                </a:solidFill>
                <a:effectLst/>
                <a:latin typeface="+mn-lt"/>
                <a:ea typeface="+mn-ea"/>
                <a:cs typeface="+mn-cs"/>
              </a:rPr>
              <a:t>Must be in prison beyond 6 months</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Techniques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Census at the female yard</a:t>
            </a:r>
          </a:p>
          <a:p>
            <a:r>
              <a:rPr lang="en-US" sz="1200" kern="1200" dirty="0">
                <a:solidFill>
                  <a:schemeClr val="tx1"/>
                </a:solidFill>
                <a:effectLst/>
                <a:latin typeface="+mn-lt"/>
                <a:ea typeface="+mn-ea"/>
                <a:cs typeface="+mn-cs"/>
              </a:rPr>
              <a:t>Snowballing at the male yard</a:t>
            </a:r>
          </a:p>
          <a:p>
            <a:r>
              <a:rPr lang="en-US" sz="1200" kern="1200" dirty="0">
                <a:solidFill>
                  <a:schemeClr val="tx1"/>
                </a:solidFill>
                <a:effectLst/>
                <a:latin typeface="+mn-lt"/>
                <a:ea typeface="+mn-ea"/>
                <a:cs typeface="+mn-cs"/>
              </a:rPr>
              <a:t>Purposive for key informants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size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sampling size obtained after reaching saturation was 16,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8 males and eight females</a:t>
            </a:r>
          </a:p>
          <a:p>
            <a:r>
              <a:rPr lang="en-US" sz="1200" b="1" kern="1200" dirty="0">
                <a:solidFill>
                  <a:schemeClr val="tx1"/>
                </a:solidFill>
                <a:effectLst/>
                <a:latin typeface="+mn-lt"/>
                <a:ea typeface="+mn-ea"/>
                <a:cs typeface="+mn-cs"/>
              </a:rPr>
              <a:t>Data analysis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Transcription was done while conducting the interviews because the prison did not allow me to record</a:t>
            </a:r>
          </a:p>
          <a:p>
            <a:r>
              <a:rPr lang="en-US" sz="1200" kern="1200" dirty="0">
                <a:solidFill>
                  <a:schemeClr val="tx1"/>
                </a:solidFill>
                <a:effectLst/>
                <a:latin typeface="+mn-lt"/>
                <a:ea typeface="+mn-ea"/>
                <a:cs typeface="+mn-cs"/>
              </a:rPr>
              <a:t>After the first four interviews, I began generating initial codes and gained a preliminary understanding of the potential themes emerging from the data. I viewed these interviews as setting the conceptual boundaries of the phenomenon under investigation.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Coding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order codes 			Second order codes		Voice/quotes </a:t>
            </a:r>
          </a:p>
          <a:p>
            <a:r>
              <a:rPr lang="en-US" sz="1200" kern="1200" dirty="0">
                <a:solidFill>
                  <a:schemeClr val="tx1"/>
                </a:solidFill>
                <a:effectLst/>
                <a:latin typeface="+mn-lt"/>
                <a:ea typeface="+mn-ea"/>
                <a:cs typeface="+mn-cs"/>
              </a:rPr>
              <a:t>Learning to sew			Vocational skills 		what skill are you learning?</a:t>
            </a:r>
          </a:p>
          <a:p>
            <a:r>
              <a:rPr lang="en-US" sz="1200" kern="1200" dirty="0">
                <a:solidFill>
                  <a:schemeClr val="tx1"/>
                </a:solidFill>
                <a:effectLst/>
                <a:latin typeface="+mn-lt"/>
                <a:ea typeface="+mn-ea"/>
                <a:cs typeface="+mn-cs"/>
              </a:rPr>
              <a:t>Constant headache and feeling weak	 Experiences in prison </a:t>
            </a:r>
          </a:p>
          <a:p>
            <a:r>
              <a:rPr lang="en-US" sz="1200" kern="1200" dirty="0">
                <a:solidFill>
                  <a:schemeClr val="tx1"/>
                </a:solidFill>
                <a:effectLst/>
                <a:latin typeface="+mn-lt"/>
                <a:ea typeface="+mn-ea"/>
                <a:cs typeface="+mn-cs"/>
              </a:rPr>
              <a:t>Thinking too much</a:t>
            </a:r>
          </a:p>
          <a:p>
            <a:r>
              <a:rPr lang="en-US" sz="1200" kern="1200" dirty="0">
                <a:solidFill>
                  <a:schemeClr val="tx1"/>
                </a:solidFill>
                <a:effectLst/>
                <a:latin typeface="+mn-lt"/>
                <a:ea typeface="+mn-ea"/>
                <a:cs typeface="+mn-cs"/>
              </a:rPr>
              <a:t>After generating the codes, I organised them into basic themes, subordinate themes and superordinate themes</a:t>
            </a:r>
          </a:p>
          <a:p>
            <a:r>
              <a:rPr lang="en-US" sz="1200" kern="1200" dirty="0" err="1">
                <a:solidFill>
                  <a:schemeClr val="tx1"/>
                </a:solidFill>
                <a:effectLst/>
                <a:latin typeface="+mn-lt"/>
                <a:ea typeface="+mn-ea"/>
                <a:cs typeface="+mn-cs"/>
              </a:rPr>
              <a:t>Eg.</a:t>
            </a:r>
            <a:r>
              <a:rPr lang="en-US" sz="1200" kern="1200" dirty="0">
                <a:solidFill>
                  <a:schemeClr val="tx1"/>
                </a:solidFill>
                <a:effectLst/>
                <a:latin typeface="+mn-lt"/>
                <a:ea typeface="+mn-ea"/>
                <a:cs typeface="+mn-cs"/>
              </a:rPr>
              <a:t> Working in my neighborhood (basic theme)	No movement within the country of origin (subordinate theme)	mobility trajectories of participants before engaging in drug trafficking (superordinate themes)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Researcher positionality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 one hand, I have firsthand knowledge of law enforcement and how drug trafficking cases are handled in Ghana. On the other hand, I am deeply engaged in academic inquiry as a student researcher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may be seen as an insider because, as a drug law enforcement officer, I have a deep understanding of the legal, procedural, and social contexts surrounding drug trafficking.</a:t>
            </a:r>
          </a:p>
          <a:p>
            <a:r>
              <a:rPr lang="en-US" sz="1200" kern="1200" dirty="0">
                <a:solidFill>
                  <a:schemeClr val="tx1"/>
                </a:solidFill>
                <a:effectLst/>
                <a:latin typeface="+mn-lt"/>
                <a:ea typeface="+mn-ea"/>
                <a:cs typeface="+mn-cs"/>
              </a:rPr>
              <a:t>I am an outsider because I have not lived the experience of being a convicted drug mule.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am aware that this dual positionality can enrich my analysis, but also requires reflexivity. I needed to be aware of how my identity, assumptions, and institutional affiliations might affect data collection, interpretation, and participant rapport.</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Although my background gave me valuable insight into how drugs are trafficked into Ghana and the control measures, I was also aware that sharing my professional identity with my participants, the convicted drug mules, might make them uncomfortable or hesitant to speak freely. To help create a safe and open environment for honest conversation, I chose to present myself only as a student researcher during the interviews. This decision was not taken lightly, but it followed ethical guidance in qualitative research that emphasises the importance of building trust and mitigating power imbalances between researcher and participant (Berger, 2016; Holmes, 2020).</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7</a:t>
            </a:fld>
            <a:endParaRPr lang="en-US"/>
          </a:p>
        </p:txBody>
      </p:sp>
    </p:spTree>
    <p:extLst>
      <p:ext uri="{BB962C8B-B14F-4D97-AF65-F5344CB8AC3E}">
        <p14:creationId xmlns:p14="http://schemas.microsoft.com/office/powerpoint/2010/main" val="2075072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2406C-9091-844B-DB49-8715D4289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22E06-8520-490D-8B05-ED9A04AD03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A392E-0BC4-141A-5A0C-D37203E2482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Methodology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Phenomenology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My philosophical positioning aligned with hermeneutic phenomenology since I </a:t>
            </a:r>
            <a:r>
              <a:rPr lang="en-US" sz="1200" kern="1200" dirty="0" err="1">
                <a:solidFill>
                  <a:schemeClr val="tx1"/>
                </a:solidFill>
                <a:effectLst/>
                <a:latin typeface="+mn-lt"/>
                <a:ea typeface="+mn-ea"/>
                <a:cs typeface="+mn-cs"/>
              </a:rPr>
              <a:t>saught</a:t>
            </a:r>
            <a:r>
              <a:rPr lang="en-US" sz="1200" kern="1200" dirty="0">
                <a:solidFill>
                  <a:schemeClr val="tx1"/>
                </a:solidFill>
                <a:effectLst/>
                <a:latin typeface="+mn-lt"/>
                <a:ea typeface="+mn-ea"/>
                <a:cs typeface="+mn-cs"/>
              </a:rPr>
              <a:t> to understand how individuals make meaning of their voluntary and involuntary immobility. </a:t>
            </a:r>
          </a:p>
          <a:p>
            <a:r>
              <a:rPr lang="en-US" sz="1200" b="1" kern="1200" dirty="0">
                <a:solidFill>
                  <a:schemeClr val="tx1"/>
                </a:solidFill>
                <a:effectLst/>
                <a:latin typeface="+mn-lt"/>
                <a:ea typeface="+mn-ea"/>
                <a:cs typeface="+mn-cs"/>
              </a:rPr>
              <a:t>Qualitative approach</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Given the sensitive and complex nature of drug trafficking and incarceration, the qualitative research design was deemed most appropriate to understand the complex realities of convicted drug mules, an insight that will be overlooked in a purely quantitative approach</a:t>
            </a:r>
          </a:p>
          <a:p>
            <a:r>
              <a:rPr lang="en-US" sz="1200" kern="1200" dirty="0">
                <a:solidFill>
                  <a:schemeClr val="tx1"/>
                </a:solidFill>
                <a:effectLst/>
                <a:latin typeface="+mn-lt"/>
                <a:ea typeface="+mn-ea"/>
                <a:cs typeface="+mn-cs"/>
              </a:rPr>
              <a:t>The methodological orientation that best suits the purpose of my research is the Interpretative Phenomenological Analysis (IPA). IPA is a qualitative research approach developed by Smith (2011) within psychology to explore how individuals make sense of their lived experiences (Moran, 2013). </a:t>
            </a:r>
          </a:p>
          <a:p>
            <a:r>
              <a:rPr lang="en-US" sz="1200" b="1" kern="1200" dirty="0">
                <a:solidFill>
                  <a:schemeClr val="tx1"/>
                </a:solidFill>
                <a:effectLst/>
                <a:latin typeface="+mn-lt"/>
                <a:ea typeface="+mn-ea"/>
                <a:cs typeface="+mn-cs"/>
              </a:rPr>
              <a:t>Study population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Convicted drug mules (males and females)</a:t>
            </a:r>
          </a:p>
          <a:p>
            <a:r>
              <a:rPr lang="en-US" sz="1200" kern="1200" dirty="0">
                <a:solidFill>
                  <a:schemeClr val="tx1"/>
                </a:solidFill>
                <a:effectLst/>
                <a:latin typeface="+mn-lt"/>
                <a:ea typeface="+mn-ea"/>
                <a:cs typeface="+mn-cs"/>
              </a:rPr>
              <a:t>Ghanaians and foreign nationals</a:t>
            </a:r>
          </a:p>
          <a:p>
            <a:r>
              <a:rPr lang="en-US" sz="1200" kern="1200" dirty="0">
                <a:solidFill>
                  <a:schemeClr val="tx1"/>
                </a:solidFill>
                <a:effectLst/>
                <a:latin typeface="+mn-lt"/>
                <a:ea typeface="+mn-ea"/>
                <a:cs typeface="+mn-cs"/>
              </a:rPr>
              <a:t>18 years and above</a:t>
            </a:r>
          </a:p>
          <a:p>
            <a:r>
              <a:rPr lang="en-US" sz="1200" kern="1200" dirty="0">
                <a:solidFill>
                  <a:schemeClr val="tx1"/>
                </a:solidFill>
                <a:effectLst/>
                <a:latin typeface="+mn-lt"/>
                <a:ea typeface="+mn-ea"/>
                <a:cs typeface="+mn-cs"/>
              </a:rPr>
              <a:t>Must be in prison beyond 6 months</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Techniques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Census at the female yard</a:t>
            </a:r>
          </a:p>
          <a:p>
            <a:r>
              <a:rPr lang="en-US" sz="1200" kern="1200" dirty="0">
                <a:solidFill>
                  <a:schemeClr val="tx1"/>
                </a:solidFill>
                <a:effectLst/>
                <a:latin typeface="+mn-lt"/>
                <a:ea typeface="+mn-ea"/>
                <a:cs typeface="+mn-cs"/>
              </a:rPr>
              <a:t>Snowballing at the male yard</a:t>
            </a:r>
          </a:p>
          <a:p>
            <a:r>
              <a:rPr lang="en-US" sz="1200" kern="1200" dirty="0">
                <a:solidFill>
                  <a:schemeClr val="tx1"/>
                </a:solidFill>
                <a:effectLst/>
                <a:latin typeface="+mn-lt"/>
                <a:ea typeface="+mn-ea"/>
                <a:cs typeface="+mn-cs"/>
              </a:rPr>
              <a:t>Purposive for key informants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size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sampling size obtained after reaching saturation was 16,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8 males and eight females</a:t>
            </a:r>
          </a:p>
          <a:p>
            <a:r>
              <a:rPr lang="en-US" sz="1200" b="1" kern="1200" dirty="0">
                <a:solidFill>
                  <a:schemeClr val="tx1"/>
                </a:solidFill>
                <a:effectLst/>
                <a:latin typeface="+mn-lt"/>
                <a:ea typeface="+mn-ea"/>
                <a:cs typeface="+mn-cs"/>
              </a:rPr>
              <a:t>Data analysis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Transcription was done while conducting the interviews because the prison did not allow me to record</a:t>
            </a:r>
          </a:p>
          <a:p>
            <a:r>
              <a:rPr lang="en-US" sz="1200" kern="1200" dirty="0">
                <a:solidFill>
                  <a:schemeClr val="tx1"/>
                </a:solidFill>
                <a:effectLst/>
                <a:latin typeface="+mn-lt"/>
                <a:ea typeface="+mn-ea"/>
                <a:cs typeface="+mn-cs"/>
              </a:rPr>
              <a:t>After the first four interviews, I began generating initial codes and gained a preliminary understanding of the potential themes emerging from the data. I viewed these interviews as setting the conceptual boundaries of the phenomenon under investigation.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Coding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order codes 			Second order codes		Voice/quotes </a:t>
            </a:r>
          </a:p>
          <a:p>
            <a:r>
              <a:rPr lang="en-US" sz="1200" kern="1200" dirty="0">
                <a:solidFill>
                  <a:schemeClr val="tx1"/>
                </a:solidFill>
                <a:effectLst/>
                <a:latin typeface="+mn-lt"/>
                <a:ea typeface="+mn-ea"/>
                <a:cs typeface="+mn-cs"/>
              </a:rPr>
              <a:t>Learning to sew			Vocational skills 		what skill are you learning?</a:t>
            </a:r>
          </a:p>
          <a:p>
            <a:r>
              <a:rPr lang="en-US" sz="1200" kern="1200" dirty="0">
                <a:solidFill>
                  <a:schemeClr val="tx1"/>
                </a:solidFill>
                <a:effectLst/>
                <a:latin typeface="+mn-lt"/>
                <a:ea typeface="+mn-ea"/>
                <a:cs typeface="+mn-cs"/>
              </a:rPr>
              <a:t>Constant headache and feeling weak	 Experiences in prison </a:t>
            </a:r>
          </a:p>
          <a:p>
            <a:r>
              <a:rPr lang="en-US" sz="1200" kern="1200" dirty="0">
                <a:solidFill>
                  <a:schemeClr val="tx1"/>
                </a:solidFill>
                <a:effectLst/>
                <a:latin typeface="+mn-lt"/>
                <a:ea typeface="+mn-ea"/>
                <a:cs typeface="+mn-cs"/>
              </a:rPr>
              <a:t>Thinking too much</a:t>
            </a:r>
          </a:p>
          <a:p>
            <a:r>
              <a:rPr lang="en-US" sz="1200" kern="1200" dirty="0">
                <a:solidFill>
                  <a:schemeClr val="tx1"/>
                </a:solidFill>
                <a:effectLst/>
                <a:latin typeface="+mn-lt"/>
                <a:ea typeface="+mn-ea"/>
                <a:cs typeface="+mn-cs"/>
              </a:rPr>
              <a:t>After generating the codes, I organised them into basic themes, subordinate themes and superordinate themes</a:t>
            </a:r>
          </a:p>
          <a:p>
            <a:r>
              <a:rPr lang="en-US" sz="1200" kern="1200" dirty="0" err="1">
                <a:solidFill>
                  <a:schemeClr val="tx1"/>
                </a:solidFill>
                <a:effectLst/>
                <a:latin typeface="+mn-lt"/>
                <a:ea typeface="+mn-ea"/>
                <a:cs typeface="+mn-cs"/>
              </a:rPr>
              <a:t>Eg.</a:t>
            </a:r>
            <a:r>
              <a:rPr lang="en-US" sz="1200" kern="1200" dirty="0">
                <a:solidFill>
                  <a:schemeClr val="tx1"/>
                </a:solidFill>
                <a:effectLst/>
                <a:latin typeface="+mn-lt"/>
                <a:ea typeface="+mn-ea"/>
                <a:cs typeface="+mn-cs"/>
              </a:rPr>
              <a:t> Working in my neighborhood (basic theme)	No movement within the country of origin (subordinate theme)	mobility trajectories of participants before engaging in drug trafficking (superordinate themes)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Researcher positionality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 one hand, I have firsthand knowledge of law enforcement and how drug trafficking cases are handled in Ghana. On the other hand, I am deeply engaged in academic inquiry as a student researcher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may be seen as an insider because, as a drug law enforcement officer, I have a deep understanding of the legal, procedural, and social contexts surrounding drug trafficking.</a:t>
            </a:r>
          </a:p>
          <a:p>
            <a:r>
              <a:rPr lang="en-US" sz="1200" kern="1200" dirty="0">
                <a:solidFill>
                  <a:schemeClr val="tx1"/>
                </a:solidFill>
                <a:effectLst/>
                <a:latin typeface="+mn-lt"/>
                <a:ea typeface="+mn-ea"/>
                <a:cs typeface="+mn-cs"/>
              </a:rPr>
              <a:t>I am an outsider because I have not lived the experience of being a convicted drug mule.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am aware that this dual positionality can enrich my analysis, but also requires reflexivity. I needed to be aware of how my identity, assumptions, and institutional affiliations might affect data collection, interpretation, and participant rapport.</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Although my background gave me valuable insight into how drugs are trafficked into Ghana and the control measures, I was also aware that sharing my professional identity with my participants, the convicted drug mules, might make them uncomfortable or hesitant to speak freely. To help create a safe and open environment for honest conversation, I chose to present myself only as a student researcher during the interviews. This decision was not taken lightly, but it followed ethical guidance in qualitative research that emphasises the importance of building trust and mitigating power imbalances between researcher and participant (Berger, 2016; Holmes, 2020).</a:t>
            </a:r>
          </a:p>
          <a:p>
            <a:endParaRPr lang="en-US" dirty="0"/>
          </a:p>
        </p:txBody>
      </p:sp>
      <p:sp>
        <p:nvSpPr>
          <p:cNvPr id="4" name="Slide Number Placeholder 3">
            <a:extLst>
              <a:ext uri="{FF2B5EF4-FFF2-40B4-BE49-F238E27FC236}">
                <a16:creationId xmlns:a16="http://schemas.microsoft.com/office/drawing/2014/main" id="{682754C5-4E4F-43F5-1645-2CFC09DBFA22}"/>
              </a:ext>
            </a:extLst>
          </p:cNvPr>
          <p:cNvSpPr>
            <a:spLocks noGrp="1"/>
          </p:cNvSpPr>
          <p:nvPr>
            <p:ph type="sldNum" sz="quarter" idx="5"/>
          </p:nvPr>
        </p:nvSpPr>
        <p:spPr/>
        <p:txBody>
          <a:bodyPr/>
          <a:lstStyle/>
          <a:p>
            <a:fld id="{F966F616-72DA-4E4B-BAA1-BBB42A78663A}" type="slidenum">
              <a:rPr lang="en-US" smtClean="0"/>
              <a:t>8</a:t>
            </a:fld>
            <a:endParaRPr lang="en-US"/>
          </a:p>
        </p:txBody>
      </p:sp>
    </p:spTree>
    <p:extLst>
      <p:ext uri="{BB962C8B-B14F-4D97-AF65-F5344CB8AC3E}">
        <p14:creationId xmlns:p14="http://schemas.microsoft.com/office/powerpoint/2010/main" val="20897642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normAutofit fontScale="100000" lnScale="100000"/>
          </a:bodyPr>
          <a:lstStyle/>
          <a:p>
            <a:pPr lvl="0"/>
            <a:r>
              <a:rPr lang="en-US" sz="3600" dirty="0" typeface="Times New Roman"/>
              <a:t>FINAL YEAR PROJECT PRESENTATION &amp; DEMO</a:t>
            </a:r>
            <a:endParaRPr lang="en-US" dirty="0" typeface="Times New Roman"/>
          </a:p>
        </p: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normAutofit fontScale="100000" lnScale="100000"/>
          </a:bodyPr>
          <a:lstStyle/>
          <a:p>
            <a:pPr lvl="0"/>
            <a:r>
              <a:rPr lang="en-US" sz="2400" dirty="0" typeface="Times New Roman"/>
              <a:t>CampusFit — A Gamified, Checkpoint-Based Campus Fitness Application NAME ID SUPERVISOR:             19TH SEPTEMBER 2025</a:t>
            </a:r>
            <a:endParaRPr lang="en-US" dirty="0" typeface="Times New Roman"/>
          </a:p>
        </p: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10/7/2026</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100000" lnScale="100000"/>
          </a:bodyPr>
          <a:lstStyle/>
          <a:p>
            <a:pPr lvl="0"/>
            <a:r>
              <a:rPr lang="en-US" sz="3600" dirty="0" typeface="Times New Roman"/>
              <a:t>OUTLINE OF  PRESENTATION</a:t>
            </a:r>
            <a:endParaRPr lang="en-US" dirty="0" typeface="Times New Roman"/>
          </a:p>
        </p:txBody>
      </p:sp>
      <p:sp>
        <p:nvSpPr>
          <p:cNvPr id="3" name="Content Placeholder 2"/>
          <p:cNvSpPr>
            <a:spLocks noGrp="1"/>
          </p:cNvSpPr>
          <p:nvPr>
            <p:ph idx="1"/>
          </p:nvPr>
        </p:nvSpPr>
        <p:spPr/>
        <p:txBody>
          <a:bodyPr vert="horz" lIns="91440" tIns="45720" rIns="91440" bIns="45720" anchor="t">
            <a:normAutofit fontScale="80000" lnScale="80000"/>
          </a:bodyPr>
          <a:lstStyle/>
          <a:p>
            <a:pPr lvl="0"/>
            <a:r>
              <a:rPr lang="en-US" sz="1400" dirty="0" typeface="Times New Roman"/>
              <a:t xml:space="preserve">Problem and motivation</a:t>
            </a:r>
          </a:p>
          <a:p>
            <a:pPr lvl="0"/>
            <a:r>
              <a:rPr lang="en-US" sz="1400" dirty="0" typeface="Times New Roman"/>
              <a:t xml:space="preserve">Research aim, questions and objectives</a:t>
            </a:r>
          </a:p>
          <a:p>
            <a:pPr lvl="0"/>
            <a:r>
              <a:rPr lang="en-US" sz="1400" dirty="0" typeface="Times New Roman"/>
              <a:t xml:space="preserve">Literature and theoretical framework</a:t>
            </a:r>
          </a:p>
          <a:p>
            <a:pPr lvl="0"/>
            <a:r>
              <a:rPr lang="en-US" sz="1400" dirty="0" typeface="Times New Roman"/>
              <a:t xml:space="preserve">Methodology and design</a:t>
            </a:r>
          </a:p>
          <a:p>
            <a:pPr lvl="0"/>
            <a:r>
              <a:rPr lang="en-US" sz="1400" dirty="0" typeface="Times New Roman"/>
              <a:t xml:space="preserve">System architecture and implementation</a:t>
            </a:r>
          </a:p>
          <a:p>
            <a:pPr lvl="0"/>
            <a:r>
              <a:rPr lang="en-US" sz="1400" dirty="0" typeface="Times New Roman"/>
              <a:t xml:space="preserve">Evaluation: verification, fidelity, performance, reward economy</a:t>
            </a:r>
          </a:p>
          <a:p>
            <a:pPr lvl="0"/>
            <a:r>
              <a:rPr lang="en-US" sz="1400" dirty="0" typeface="Times New Roman"/>
              <a:t xml:space="preserve">Findings, contributions and future work</a:t>
            </a:r>
            <a:endParaRPr lang="en-US" dirty="0" typeface="Times New Roman"/>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a:latin typeface="Calibri" panose="020F0502020204030204" pitchFamily="34" charset="0"/>
                <a:ea typeface="MS PGothic" panose="020B0600070205080204" pitchFamily="34" charset="-128"/>
              </a:rPr>
              <a:pPr fontAlgn="base">
                <a:spcBef>
                  <a:spcPct val="0"/>
                </a:spcBef>
                <a:spcAft>
                  <a:spcPct val="0"/>
                </a:spcAft>
                <a:defRPr/>
              </a:pPr>
              <a:t>10/7/2026</a:t>
            </a:fld>
            <a:endParaRPr lang="en-US">
              <a:latin typeface="Calibri" panose="020F0502020204030204" pitchFamily="34" charset="0"/>
              <a:ea typeface="MS PGothic" panose="020B0600070205080204" pitchFamily="34" charset="-128"/>
            </a:endParaRPr>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2</a:t>
            </a:fld>
            <a:endParaRPr lang="en-US" altLang="en-US">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1932359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normAutofit fontScale="100000" lnScale="100000"/>
          </a:bodyPr>
          <a:lstStyle/>
          <a:p>
            <a:pPr lvl="0"/>
            <a:r>
              <a:rPr lang="en-US" sz="3600" dirty="0" typeface="Times New Roman"/>
              <a:t>Introduction</a:t>
            </a:r>
            <a:endParaRPr lang="en-US" dirty="0" typeface="Times New Roman"/>
          </a:p>
        </p: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09600" y="1619865"/>
            <a:ext cx="10972800" cy="4525963"/>
          </a:xfrm>
        </p:spPr>
        <p:txBody>
          <a:bodyPr vert="horz" lIns="91440" tIns="45720" rIns="91440" bIns="45720" anchor="t">
            <a:normAutofit fontScale="80000" lnScale="80000"/>
          </a:bodyPr>
          <a:lstStyle/>
          <a:p>
            <a:pPr lvl="0"/>
            <a:r>
              <a:rPr lang="en-US" sz="1400" dirty="0" typeface="Times New Roman"/>
              <a:t xml:space="preserve">University students are among the least active populations: nearly half inactive in sampled cohorts (Alkhawaldeh et al., 2024); 22.4% insufficiently active (Edelmann et al., 2022).</a:t>
            </a:r>
          </a:p>
          <a:p>
            <a:pPr lvl="0"/>
            <a:r>
              <a:rPr lang="en-US" sz="1400" dirty="0" typeface="Times New Roman"/>
              <a:t xml:space="preserve">Generic fitness apps count steps but do not engage the campus environment students actually live and move through (McCallum et al., 2018).</a:t>
            </a:r>
          </a:p>
          <a:p>
            <a:pPr lvl="0"/>
            <a:r>
              <a:rPr lang="en-US" sz="1400" dirty="0" typeface="Times New Roman"/>
              <a:t xml:space="preserve">Gamification increases physical activity, but heterogeneously, and with documented risks in purely competitive designs (Hamari et al., 2014; Mazeas et al., 2022; Nishi et al., 2024).</a:t>
            </a:r>
          </a:p>
          <a:p>
            <a:pPr lvl="0"/>
            <a:r>
              <a:rPr lang="en-US" sz="1400" dirty="0" typeface="Times New Roman"/>
              <a:t xml:space="preserve">Research gap: no reviewed system combines campus-anchored checkpoints, server-side auditable reward allocation, competition designed against leaderboard demotivation risks, and institutional governance in one instrumented artefact.</a:t>
            </a:r>
          </a:p>
          <a:p>
            <a:pPr lvl="0"/>
            <a:r>
              <a:rPr lang="en-US" sz="1400" dirty="0" typeface="Times New Roman"/>
              <a:t xml:space="preserve">Contribution: a gamified, QR/NFC checkpoint-based mobile application that turns the campus into a fitness instrument — participatory, auditable, and governable.</a:t>
            </a:r>
            <a:endParaRPr lang="en-US" dirty="0" typeface="Times New Roman"/>
          </a:p>
        </p: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3</a:t>
            </a:fld>
            <a:endParaRPr lang="en-US" altLang="en-US">
              <a:ea typeface="MS PGothic" panose="020B0600070205080204" pitchFamily="34" charset="-128"/>
            </a:endParaRPr>
          </a:p>
        </p:txBody>
      </p:sp>
    </p:spTree>
    <p:extLst>
      <p:ext uri="{BB962C8B-B14F-4D97-AF65-F5344CB8AC3E}">
        <p14:creationId xmlns:p14="http://schemas.microsoft.com/office/powerpoint/2010/main" val="189611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B2738-68AC-4D51-568D-D524A0A661F8}"/>
              </a:ext>
            </a:extLst>
          </p:cNvPr>
          <p:cNvSpPr>
            <a:spLocks noGrp="1"/>
          </p:cNvSpPr>
          <p:nvPr>
            <p:ph type="title"/>
          </p:nvPr>
        </p:nvSpPr>
        <p:spPr/>
        <p:txBody>
          <a:bodyPr>
            <a:normAutofit fontScale="100000" lnScale="100000"/>
          </a:bodyPr>
          <a:lstStyle/>
          <a:p>
            <a:pPr lvl="0"/>
            <a:r>
              <a:rPr lang="en-US" sz="3600" dirty="0" typeface="Times New Roman"/>
              <a:t>Aims and Objectives</a:t>
            </a:r>
            <a:endParaRPr lang="en-US" dirty="0" typeface="Times New Roman"/>
          </a:p>
        </p:txBody>
      </p:sp>
      <p:sp>
        <p:nvSpPr>
          <p:cNvPr id="3" name="Content Placeholder 2">
            <a:extLst>
              <a:ext uri="{FF2B5EF4-FFF2-40B4-BE49-F238E27FC236}">
                <a16:creationId xmlns:a16="http://schemas.microsoft.com/office/drawing/2014/main" id="{6DEFCC0B-C1AE-0B6A-2192-DD51A8EE47B9}"/>
              </a:ext>
            </a:extLst>
          </p:cNvPr>
          <p:cNvSpPr>
            <a:spLocks noGrp="1"/>
          </p:cNvSpPr>
          <p:nvPr>
            <p:ph idx="1"/>
          </p:nvPr>
        </p:nvSpPr>
        <p:spPr>
          <a:xfrm>
            <a:off x="373626" y="1691148"/>
            <a:ext cx="11592232" cy="5030327"/>
          </a:xfrm>
        </p:spPr>
        <p:txBody>
          <a:bodyPr vert="horz" lIns="91440" tIns="45720" rIns="91440" bIns="45720" anchor="t">
            <a:normAutofit fontScale="80000" lnScale="80000"/>
          </a:bodyPr>
          <a:lstStyle/>
          <a:p>
            <a:pPr lvl="0"/>
            <a:r>
              <a:rPr lang="en-US" sz="1600" dirty="0" typeface="Times New Roman" b="1"/>
              <a:t xml:space="preserve">Aim</a:t>
            </a:r>
          </a:p>
          <a:p>
            <a:pPr lvl="0"/>
            <a:r>
              <a:rPr lang="en-US" sz="1400" dirty="0" typeface="Times New Roman"/>
              <a:t xml:space="preserve">To design, develop and evaluate a gamified, checkpoint-based mobile fitness application that promotes sustained physical activity within a university campus.</a:t>
            </a:r>
          </a:p>
          <a:p>
            <a:pPr lvl="0"/>
            <a:r>
              <a:rPr lang="en-US" sz="1400" dirty="0" typeface="Times New Roman"/>
              <a:t xml:space="preserve"> </a:t>
            </a:r>
          </a:p>
          <a:p>
            <a:pPr lvl="0"/>
            <a:r>
              <a:rPr lang="en-US" sz="1600" dirty="0" typeface="Times New Roman" b="1"/>
              <a:t xml:space="preserve">Specific objectives</a:t>
            </a:r>
          </a:p>
          <a:p>
            <a:pPr lvl="0"/>
            <a:r>
              <a:rPr lang="en-US" sz="1400" dirty="0" typeface="Times New Roman"/>
              <a:t xml:space="preserve">1. Analyse student fitness behaviour and determine system requirements</a:t>
            </a:r>
          </a:p>
          <a:p>
            <a:pPr lvl="0"/>
            <a:r>
              <a:rPr lang="en-US" sz="1400" dirty="0" typeface="Times New Roman"/>
              <a:t xml:space="preserve">2. Design a user-friendly mobile application interface</a:t>
            </a:r>
          </a:p>
          <a:p>
            <a:pPr lvl="0"/>
            <a:r>
              <a:rPr lang="en-US" sz="1400" dirty="0" typeface="Times New Roman"/>
              <a:t xml:space="preserve">3. Implement secure student registration and authentication</a:t>
            </a:r>
          </a:p>
          <a:p>
            <a:pPr lvl="0"/>
            <a:r>
              <a:rPr lang="en-US" sz="1400" dirty="0" typeface="Times New Roman"/>
              <a:t xml:space="preserve">4. Design and deploy QR/NFC-based checkpoint validation mechanisms</a:t>
            </a:r>
          </a:p>
          <a:p>
            <a:pPr lvl="0"/>
            <a:r>
              <a:rPr lang="en-US" sz="1400" dirty="0" typeface="Times New Roman"/>
              <a:t xml:space="preserve">5. Develop a dynamic points allocation algorithm</a:t>
            </a:r>
          </a:p>
          <a:p>
            <a:pPr lvl="0"/>
            <a:r>
              <a:rPr lang="en-US" sz="1400" dirty="0" typeface="Times New Roman"/>
              <a:t xml:space="preserve">6. Integrate leaderboard functionality for competitive ranking</a:t>
            </a:r>
          </a:p>
          <a:p>
            <a:pPr lvl="0"/>
            <a:r>
              <a:rPr lang="en-US" sz="1400" dirty="0" typeface="Times New Roman"/>
              <a:t xml:space="preserve">7. Implement a badge and achievement reward system</a:t>
            </a:r>
          </a:p>
          <a:p>
            <a:pPr lvl="0"/>
            <a:r>
              <a:rPr lang="en-US" sz="1400" dirty="0" typeface="Times New Roman"/>
              <a:t xml:space="preserve">8. Design an administrative dashboard for system management</a:t>
            </a:r>
          </a:p>
          <a:p>
            <a:pPr lvl="0"/>
            <a:r>
              <a:rPr lang="en-US" sz="1400" dirty="0" typeface="Times New Roman"/>
              <a:t xml:space="preserve">9. Test system usability, performance, and scalability</a:t>
            </a:r>
          </a:p>
          <a:p>
            <a:pPr lvl="0"/>
            <a:r>
              <a:rPr lang="en-US" sz="1400" dirty="0" typeface="Times New Roman"/>
              <a:t xml:space="preserve">10. Evaluate user engagement through pilot testing</a:t>
            </a:r>
            <a:endParaRPr lang="en-US" dirty="0" typeface="Times New Roman"/>
          </a:p>
        </p:txBody>
      </p:sp>
      <p:sp>
        <p:nvSpPr>
          <p:cNvPr id="4" name="Date Placeholder 3">
            <a:extLst>
              <a:ext uri="{FF2B5EF4-FFF2-40B4-BE49-F238E27FC236}">
                <a16:creationId xmlns:a16="http://schemas.microsoft.com/office/drawing/2014/main" id="{1B823B23-738E-64E3-FFD2-6DC756DE6D84}"/>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A12BA517-DF9E-BB84-BEC3-8B2D35D700A7}"/>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4</a:t>
            </a:fld>
            <a:endParaRPr lang="en-US" altLang="en-US">
              <a:ea typeface="MS PGothic" panose="020B0600070205080204" pitchFamily="34" charset="-128"/>
            </a:endParaRPr>
          </a:p>
        </p:txBody>
      </p:sp>
    </p:spTree>
    <p:extLst>
      <p:ext uri="{BB962C8B-B14F-4D97-AF65-F5344CB8AC3E}">
        <p14:creationId xmlns:p14="http://schemas.microsoft.com/office/powerpoint/2010/main" val="230177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5A31B-99F0-32CD-42FA-EA92C81A3224}"/>
              </a:ext>
            </a:extLst>
          </p:cNvPr>
          <p:cNvSpPr>
            <a:spLocks noGrp="1"/>
          </p:cNvSpPr>
          <p:nvPr>
            <p:ph type="title"/>
          </p:nvPr>
        </p:nvSpPr>
        <p:spPr/>
        <p:txBody>
          <a:bodyPr>
            <a:normAutofit fontScale="100000" lnScale="100000"/>
          </a:bodyPr>
          <a:lstStyle/>
          <a:p>
            <a:pPr lvl="0"/>
            <a:r>
              <a:rPr lang="en-US" sz="3600" dirty="0" typeface="Times New Roman"/>
              <a:t>Related Work</a:t>
            </a:r>
            <a:endParaRPr lang="en-US" dirty="0" typeface="Times New Roman"/>
          </a:p>
        </p:txBody>
      </p:sp>
      <p:sp>
        <p:nvSpPr>
          <p:cNvPr id="3" name="Content Placeholder 2">
            <a:extLst>
              <a:ext uri="{FF2B5EF4-FFF2-40B4-BE49-F238E27FC236}">
                <a16:creationId xmlns:a16="http://schemas.microsoft.com/office/drawing/2014/main" id="{9DF2A7B9-9577-A5DF-84DE-6D64DB05A797}"/>
              </a:ext>
            </a:extLst>
          </p:cNvPr>
          <p:cNvSpPr>
            <a:spLocks noGrp="1"/>
          </p:cNvSpPr>
          <p:nvPr>
            <p:ph idx="1"/>
          </p:nvPr>
        </p:nvSpPr>
        <p:spPr>
          <a:xfrm>
            <a:off x="127591" y="1600201"/>
            <a:ext cx="11876567" cy="4525963"/>
          </a:xfrm>
        </p:spPr>
        <p:txBody>
          <a:bodyPr vert="horz" lIns="91440" tIns="45720" rIns="91440" bIns="45720" anchor="t">
            <a:normAutofit fontScale="80000" lnScale="80000"/>
          </a:bodyPr>
          <a:lstStyle/>
          <a:p>
            <a:pPr lvl="0"/>
            <a:r>
              <a:rPr lang="en-US" sz="1400" dirty="0" typeface="Times New Roman"/>
              <a:t xml:space="preserve">Self-determination theory — points as competence feedback, not compliance payment; relatedness through clubs and crews (Ryan &amp; Deci, 2000).</a:t>
            </a:r>
          </a:p>
          <a:p>
            <a:pPr lvl="0"/>
            <a:r>
              <a:rPr lang="en-US" sz="1400" dirty="0" typeface="Times New Roman"/>
              <a:t xml:space="preserve">Flow theory — four difficulty tiers (easy/medium/hard/epic) keep challenge matched to ability (Csikszentmihalyi, 1990).</a:t>
            </a:r>
          </a:p>
          <a:p>
            <a:pPr lvl="0"/>
            <a:r>
              <a:rPr lang="en-US" sz="1400" dirty="0" typeface="Times New Roman"/>
              <a:t xml:space="preserve">Sustainability — novelty decay is the dominant failure mode; campus content must be continuously administered (Althoff et al., 2016; Li et al., 2021).</a:t>
            </a:r>
          </a:p>
          <a:p>
            <a:pPr lvl="0"/>
            <a:r>
              <a:rPr lang="en-US" sz="1400" dirty="0" typeface="Times New Roman"/>
              <a:t xml:space="preserve">Location-based precedent — Pokémon Go reached least-active users most (Althoff et al., 2016), with decay later (Li et al., 2021).</a:t>
            </a:r>
          </a:p>
          <a:p>
            <a:pPr lvl="0"/>
            <a:r>
              <a:rPr lang="en-US" sz="1400" dirty="0" typeface="Times New Roman"/>
              <a:t xml:space="preserve">Attrition — drop-out is the norm in the first weeks; friction in the core action is the failure mode to design against (Linardon &amp; Fuller-Tyszkiewicz, 2020).</a:t>
            </a:r>
          </a:p>
          <a:p>
            <a:pPr lvl="0"/>
            <a:r>
              <a:rPr lang="en-US" sz="1400" dirty="0" typeface="Times New Roman"/>
              <a:t xml:space="preserve">Why not sensors alone — equity, privacy, attribution, and portable codebase rule out a sensor-first architecture (Section 2.9.1).</a:t>
            </a:r>
            <a:endParaRPr lang="en-US" dirty="0" typeface="Times New Roman"/>
          </a:p>
        </p:txBody>
      </p:sp>
      <p:sp>
        <p:nvSpPr>
          <p:cNvPr id="4" name="Date Placeholder 3">
            <a:extLst>
              <a:ext uri="{FF2B5EF4-FFF2-40B4-BE49-F238E27FC236}">
                <a16:creationId xmlns:a16="http://schemas.microsoft.com/office/drawing/2014/main" id="{5CAA1B5D-12F2-D542-90C1-8F260A0B4D4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5868BA78-6230-9A49-69A7-B22EB73C48CC}"/>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5</a:t>
            </a:fld>
            <a:endParaRPr lang="en-US" altLang="en-US">
              <a:ea typeface="MS PGothic" panose="020B0600070205080204" pitchFamily="34" charset="-128"/>
            </a:endParaRPr>
          </a:p>
        </p:txBody>
      </p:sp>
    </p:spTree>
    <p:extLst>
      <p:ext uri="{BB962C8B-B14F-4D97-AF65-F5344CB8AC3E}">
        <p14:creationId xmlns:p14="http://schemas.microsoft.com/office/powerpoint/2010/main" val="1436351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06D3C-4B4F-4105-A2CA-8CCC647D3BA1}"/>
              </a:ext>
            </a:extLst>
          </p:cNvPr>
          <p:cNvSpPr>
            <a:spLocks noGrp="1"/>
          </p:cNvSpPr>
          <p:nvPr>
            <p:ph type="title"/>
          </p:nvPr>
        </p:nvSpPr>
        <p:spPr/>
        <p:txBody>
          <a:bodyPr>
            <a:normAutofit fontScale="100000" lnScale="100000"/>
          </a:bodyPr>
          <a:lstStyle/>
          <a:p>
            <a:pPr lvl="0"/>
            <a:r>
              <a:rPr lang="en-US" sz="3600" dirty="0" typeface="Times New Roman"/>
              <a:t>Proposed Solution</a:t>
            </a:r>
            <a:endParaRPr lang="en-US" dirty="0" typeface="Times New Roman"/>
          </a:p>
        </p:txBody>
      </p:sp>
      <p:sp>
        <p:nvSpPr>
          <p:cNvPr id="3" name="Content Placeholder 2">
            <a:extLst>
              <a:ext uri="{FF2B5EF4-FFF2-40B4-BE49-F238E27FC236}">
                <a16:creationId xmlns:a16="http://schemas.microsoft.com/office/drawing/2014/main" id="{B9B6B7A8-65F2-E73A-00E9-945683A8A1BD}"/>
              </a:ext>
            </a:extLst>
          </p:cNvPr>
          <p:cNvSpPr>
            <a:spLocks noGrp="1"/>
          </p:cNvSpPr>
          <p:nvPr>
            <p:ph idx="1"/>
          </p:nvPr>
        </p:nvSpPr>
        <p:spPr/>
        <p:txBody>
          <a:bodyPr vert="horz" lIns="91440" tIns="45720" rIns="91440" bIns="45720" anchor="t">
            <a:normAutofit fontScale="80000" lnScale="80000"/>
          </a:bodyPr>
          <a:lstStyle/>
          <a:p>
            <a:pPr lvl="0"/>
            <a:r>
              <a:rPr lang="en-US" sz="1600" dirty="0" typeface="Times New Roman" b="1"/>
              <a:t xml:space="preserve">Architecture (three tiers)</a:t>
            </a:r>
          </a:p>
          <a:p>
            <a:pPr lvl="0"/>
            <a:r>
              <a:rPr lang="en-US" sz="1400" dirty="0" typeface="Times New Roman"/>
              <a:t xml:space="preserve">• Client: React 19 + TypeScript + Tailwind CSS, Progressive Web App with precached shell.</a:t>
            </a:r>
          </a:p>
          <a:p>
            <a:pPr lvl="0"/>
            <a:r>
              <a:rPr lang="en-US" sz="1400" dirty="0" typeface="Times New Roman"/>
              <a:t xml:space="preserve">• Backend: Supabase / PostgreSQL with row-level security; all reward authority in server-side database functions.</a:t>
            </a:r>
          </a:p>
          <a:p>
            <a:pPr lvl="0"/>
            <a:r>
              <a:rPr lang="en-US" sz="1400" dirty="0" typeface="Times New Roman"/>
              <a:t xml:space="preserve">• Physical: printed QR codes (NFC-ready); same code string as the database checkpoint row.</a:t>
            </a:r>
          </a:p>
          <a:p>
            <a:pPr lvl="0"/>
            <a:r>
              <a:rPr lang="en-US" sz="1400" dirty="0" typeface="Times New Roman"/>
              <a:t xml:space="preserve"> </a:t>
            </a:r>
          </a:p>
          <a:p>
            <a:pPr lvl="0"/>
            <a:r>
              <a:rPr lang="en-US" sz="1600" dirty="0" typeface="Times New Roman" b="1"/>
              <a:t xml:space="preserve">Refereed reward economy</a:t>
            </a:r>
          </a:p>
          <a:p>
            <a:pPr lvl="0"/>
            <a:r>
              <a:rPr lang="en-US" sz="1400" dirty="0" typeface="Times New Roman"/>
              <a:t xml:space="preserve">• scan_checkpoint() resolves the checkpoint, enforces an 8-hour per-user cooldown, applies a difficulty multiplier, writes an append-only audit ledger, and recomputes points / level / streak in one transaction.</a:t>
            </a:r>
          </a:p>
          <a:p>
            <a:pPr lvl="0"/>
            <a:r>
              <a:rPr lang="en-US" sz="1400" dirty="0" typeface="Times New Roman"/>
              <a:t xml:space="preserve">• Multipliers: easy ×1.0, medium ×1.3, hard ×1.8, epic ×2.5.</a:t>
            </a:r>
            <a:endParaRPr lang="en-US" dirty="0" typeface="Times New Roman"/>
          </a:p>
        </p:txBody>
      </p:sp>
      <p:sp>
        <p:nvSpPr>
          <p:cNvPr id="4" name="Date Placeholder 3">
            <a:extLst>
              <a:ext uri="{FF2B5EF4-FFF2-40B4-BE49-F238E27FC236}">
                <a16:creationId xmlns:a16="http://schemas.microsoft.com/office/drawing/2014/main" id="{01725DB2-1CF4-25AC-98C9-B01040B6961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3890411F-B638-EC08-5169-AE580B8FB891}"/>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6</a:t>
            </a:fld>
            <a:endParaRPr lang="en-US" altLang="en-US">
              <a:ea typeface="MS PGothic" panose="020B0600070205080204" pitchFamily="34" charset="-128"/>
            </a:endParaRPr>
          </a:p>
        </p:txBody>
      </p:sp>
    </p:spTree>
    <p:extLst>
      <p:ext uri="{BB962C8B-B14F-4D97-AF65-F5344CB8AC3E}">
        <p14:creationId xmlns:p14="http://schemas.microsoft.com/office/powerpoint/2010/main" val="3985447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32FC4-DD23-1994-05AD-6A8BE81F5CEF}"/>
              </a:ext>
            </a:extLst>
          </p:cNvPr>
          <p:cNvSpPr>
            <a:spLocks noGrp="1"/>
          </p:cNvSpPr>
          <p:nvPr>
            <p:ph type="title"/>
          </p:nvPr>
        </p:nvSpPr>
        <p:spPr/>
        <p:txBody>
          <a:bodyPr>
            <a:normAutofit fontScale="100000" lnScale="100000"/>
          </a:bodyPr>
          <a:lstStyle/>
          <a:p>
            <a:pPr lvl="0"/>
            <a:r>
              <a:rPr lang="en-US" sz="3600" dirty="0" typeface="Times New Roman"/>
              <a:t>End Slide</a:t>
            </a:r>
            <a:endParaRPr lang="en-US" dirty="0" typeface="Times New Roman"/>
          </a:p>
        </p:txBody>
      </p:sp>
      <p:sp>
        <p:nvSpPr>
          <p:cNvPr id="4" name="Date Placeholder 3">
            <a:extLst>
              <a:ext uri="{FF2B5EF4-FFF2-40B4-BE49-F238E27FC236}">
                <a16:creationId xmlns:a16="http://schemas.microsoft.com/office/drawing/2014/main" id="{D3F317FC-B0A5-5DF9-D46A-0097F1943542}"/>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E90DD781-364A-0708-0EFC-CA14E446F5D9}"/>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7</a:t>
            </a:fld>
            <a:endParaRPr lang="en-US" altLang="en-US">
              <a:ea typeface="MS PGothic" panose="020B0600070205080204" pitchFamily="34" charset="-128"/>
            </a:endParaRPr>
          </a:p>
        </p:txBody>
      </p:sp>
      <p:sp>
        <p:nvSpPr>
          <p:cNvPr id="8" name="Content Placeholder 7">
            <a:extLst>
              <a:ext uri="{FF2B5EF4-FFF2-40B4-BE49-F238E27FC236}">
                <a16:creationId xmlns:a16="http://schemas.microsoft.com/office/drawing/2014/main" id="{23712241-B4F7-567C-CF5D-AA1CE2FB25EE}"/>
              </a:ext>
            </a:extLst>
          </p:cNvPr>
          <p:cNvSpPr>
            <a:spLocks noGrp="1"/>
          </p:cNvSpPr>
          <p:nvPr>
            <p:ph idx="1"/>
          </p:nvPr>
        </p:nvSpPr>
        <p:spPr/>
        <p:txBody>
          <a:bodyPr vert="horz" lIns="91440" tIns="45720" rIns="91440" bIns="45720" anchor="t">
            <a:normAutofit fontScale="80000" lnScale="80000"/>
          </a:bodyPr>
          <a:lstStyle/>
          <a:p>
            <a:pPr lvl="0"/>
            <a:r>
              <a:rPr lang="en-US" sz="1400" dirty="0" typeface="Times New Roman"/>
              <a:t xml:space="preserve">Thank you.</a:t>
            </a:r>
          </a:p>
          <a:p>
            <a:pPr lvl="0"/>
            <a:r>
              <a:rPr lang="en-US" sz="1400" dirty="0" typeface="Times New Roman"/>
              <a:t xml:space="preserve"> </a:t>
            </a:r>
          </a:p>
          <a:p>
            <a:pPr lvl="0"/>
            <a:r>
              <a:rPr lang="en-US" sz="1600" dirty="0" typeface="Times New Roman" b="1"/>
              <a:t xml:space="preserve">Summary — six verified findings</a:t>
            </a:r>
          </a:p>
          <a:p>
            <a:pPr lvl="0"/>
            <a:r>
              <a:rPr lang="en-US" sz="1400" dirty="0" typeface="Times New Roman"/>
              <a:t xml:space="preserve">1. Schema-implementation fidelity: 29/29 routes, 0 console errors.</a:t>
            </a:r>
          </a:p>
          <a:p>
            <a:pPr lvl="0"/>
            <a:r>
              <a:rPr lang="en-US" sz="1400" dirty="0" typeface="Times New Roman"/>
              <a:t xml:space="preserve">2. Reward-path correctness: 9/9 end-to-end checks, including cooldown rejection.</a:t>
            </a:r>
          </a:p>
          <a:p>
            <a:pPr lvl="0"/>
            <a:r>
              <a:rPr lang="en-US" sz="1400" dirty="0" typeface="Times New Roman"/>
              <a:t xml:space="preserve">3. Points economy verified under simulation across casual, regular and committed profiles.</a:t>
            </a:r>
          </a:p>
          <a:p>
            <a:pPr lvl="0"/>
            <a:r>
              <a:rPr lang="en-US" sz="1400" dirty="0" typeface="Times New Roman"/>
              <a:t xml:space="preserve">4. Interface fidelity to the design specification: mean 0.910 over 19 comparable screens.</a:t>
            </a:r>
          </a:p>
          <a:p>
            <a:pPr lvl="0"/>
            <a:r>
              <a:rPr lang="en-US" sz="1400" dirty="0" typeface="Times New Roman"/>
              <a:t xml:space="preserve">5. No high-severity usability findings on heuristic inspection.</a:t>
            </a:r>
          </a:p>
          <a:p>
            <a:pPr lvl="0"/>
            <a:r>
              <a:rPr lang="en-US" sz="1400" dirty="0" typeface="Times New Roman"/>
              <a:t xml:space="preserve">6. Single-codebase PWA: ~207 kB connected first load (cold build 25.5 s), offline shell.</a:t>
            </a:r>
          </a:p>
          <a:p>
            <a:pPr lvl="0"/>
            <a:r>
              <a:rPr lang="en-US" sz="1400" dirty="0" typeface="Times New Roman"/>
              <a:t xml:space="preserve"> </a:t>
            </a:r>
          </a:p>
          <a:p>
            <a:pPr lvl="0"/>
            <a:r>
              <a:rPr lang="en-US" sz="1600" dirty="0" typeface="Times New Roman" b="1"/>
              <a:t xml:space="preserve">Future work: usability pilot (SUS), NFC / signed rotating codes, geofence confirmation, wearable integration, multi-campus federation.</a:t>
            </a:r>
            <a:endParaRPr lang="en-US" dirty="0" typeface="Times New Roman"/>
          </a:p>
        </p:txBody>
      </p:sp>
    </p:spTree>
    <p:extLst>
      <p:ext uri="{BB962C8B-B14F-4D97-AF65-F5344CB8AC3E}">
        <p14:creationId xmlns:p14="http://schemas.microsoft.com/office/powerpoint/2010/main" val="2156271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A55DD-65B0-94D0-4068-542E391D7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6DACDF-DBAD-7E74-3555-7FCB227A467D}"/>
              </a:ext>
            </a:extLst>
          </p:cNvPr>
          <p:cNvSpPr>
            <a:spLocks noGrp="1"/>
          </p:cNvSpPr>
          <p:nvPr>
            <p:ph type="title"/>
          </p:nvPr>
        </p:nvSpPr>
        <p:spPr/>
        <p:txBody>
          <a:bodyPr>
            <a:normAutofit fontScale="100000" lnScale="100000"/>
          </a:bodyPr>
          <a:lstStyle/>
          <a:p>
            <a:pPr lvl="0"/>
            <a:r>
              <a:rPr lang="en-US" sz="3600" dirty="0" typeface="Times New Roman"/>
              <a:t>FINAL YEAR PROJECT PRESENTATION &amp; DEMO</a:t>
            </a:r>
            <a:endParaRPr lang="en-US" dirty="0" typeface="Times New Roman"/>
          </a:p>
        </p:txBody>
      </p:sp>
      <p:sp>
        <p:nvSpPr>
          <p:cNvPr id="4" name="Date Placeholder 3">
            <a:extLst>
              <a:ext uri="{FF2B5EF4-FFF2-40B4-BE49-F238E27FC236}">
                <a16:creationId xmlns:a16="http://schemas.microsoft.com/office/drawing/2014/main" id="{F7F4D605-15E8-8AA8-4637-A42E17F91764}"/>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10/7/2026</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62DCCCD3-EAFC-B988-C6CC-CD1CA8F3CAD2}"/>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8</a:t>
            </a:fld>
            <a:endParaRPr lang="en-US" altLang="en-US">
              <a:ea typeface="MS PGothic" panose="020B0600070205080204" pitchFamily="34" charset="-128"/>
            </a:endParaRPr>
          </a:p>
        </p:txBody>
      </p:sp>
      <p:sp>
        <p:nvSpPr>
          <p:cNvPr id="8" name="Content Placeholder 7">
            <a:extLst>
              <a:ext uri="{FF2B5EF4-FFF2-40B4-BE49-F238E27FC236}">
                <a16:creationId xmlns:a16="http://schemas.microsoft.com/office/drawing/2014/main" id="{6834DB0F-C428-4601-C46D-5819746ADBD7}"/>
              </a:ext>
            </a:extLst>
          </p:cNvPr>
          <p:cNvSpPr>
            <a:spLocks noGrp="1"/>
          </p:cNvSpPr>
          <p:nvPr>
            <p:ph idx="1"/>
          </p:nvPr>
        </p:nvSpPr>
        <p:spPr/>
        <p:txBody>
          <a:bodyPr vert="horz" lIns="91440" tIns="45720" rIns="91440" bIns="45720" anchor="t"/>
          <a:lstStyle/>
          <a:p>
            <a:pPr lvl="0"/>
            <a:endParaRPr lang="en-US" dirty="0"/>
          </a:p>
        </p:txBody>
      </p:sp>
    </p:spTree>
    <p:extLst>
      <p:ext uri="{BB962C8B-B14F-4D97-AF65-F5344CB8AC3E}">
        <p14:creationId xmlns:p14="http://schemas.microsoft.com/office/powerpoint/2010/main" val="1966921906"/>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2405</Words>
  <Application>Microsoft Office PowerPoint</Application>
  <PresentationFormat>Widescreen</PresentationFormat>
  <Paragraphs>186</Paragraphs>
  <Slides>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MS PGothic</vt:lpstr>
      <vt:lpstr>Aptos</vt:lpstr>
      <vt:lpstr>Arial</vt:lpstr>
      <vt:lpstr>Calibri</vt:lpstr>
      <vt:lpstr>Times New Roman</vt:lpstr>
      <vt:lpstr>1_Office Theme</vt:lpstr>
      <vt:lpstr>FINAL YEAR PROJECT PRESENTATION &amp; DEMO</vt:lpstr>
      <vt:lpstr>OUTLINE OF  PRESENTATION</vt:lpstr>
      <vt:lpstr>Introduction</vt:lpstr>
      <vt:lpstr>Aims and Objectives</vt:lpstr>
      <vt:lpstr>Related Work</vt:lpstr>
      <vt:lpstr>Proposed Solution</vt:lpstr>
      <vt:lpstr>End Slide</vt:lpstr>
      <vt:lpstr>Demo Video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Saijah Daniel Kofi</cp:lastModifiedBy>
  <cp:revision>2</cp:revision>
  <dcterms:created xsi:type="dcterms:W3CDTF">2025-09-15T15:38:40Z</dcterms:created>
  <dcterms:modified xsi:type="dcterms:W3CDTF">2026-10-07T14:43:00Z</dcterms:modified>
</cp:coreProperties>
</file>