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1"/>
  </p:notesMasterIdLst>
  <p:sldIdLst>
    <p:sldId id="258" r:id="rId3"/>
    <p:sldId id="259" r:id="rId4"/>
    <p:sldId id="260" r:id="rId5"/>
    <p:sldId id="261" r:id="rId6"/>
    <p:sldId id="262" r:id="rId7"/>
    <p:sldId id="263" r:id="rId8"/>
    <p:sldId id="264" r:id="rId9"/>
    <p:sldId id="257"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72" autoAdjust="0"/>
    <p:restoredTop sz="94660"/>
  </p:normalViewPr>
  <p:slideViewPr>
    <p:cSldViewPr snapToGrid="0">
      <p:cViewPr varScale="1">
        <p:scale>
          <a:sx n="78" d="100"/>
          <a:sy n="78" d="100"/>
        </p:scale>
        <p:origin x="878"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viewProps" Target="viewProp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presProps" Target="presProp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tableStyles" Target="tableStyle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7CA5DE-5554-433E-998B-5706BBA3DDB9}" type="datetimeFigureOut">
              <a:rPr lang="en-US" smtClean="0"/>
              <a:t>9/15/2025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FB57E44-CA01-48B4-9714-7B5CDB51CDA6}" type="slidenum">
              <a:rPr lang="en-US" smtClean="0"/>
              <a:t>‹#›</a:t>
            </a:fld>
            <a:endParaRPr lang="en-US"/>
          </a:p>
        </p:txBody>
      </p:sp>
    </p:spTree>
    <p:extLst>
      <p:ext uri="{BB962C8B-B14F-4D97-AF65-F5344CB8AC3E}">
        <p14:creationId xmlns:p14="http://schemas.microsoft.com/office/powerpoint/2010/main" val="17077380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966F616-72DA-4E4B-BAA1-BBB42A78663A}" type="slidenum">
              <a:rPr lang="en-US" smtClean="0"/>
              <a:t>1</a:t>
            </a:fld>
            <a:endParaRPr lang="en-US"/>
          </a:p>
        </p:txBody>
      </p:sp>
    </p:spTree>
    <p:extLst>
      <p:ext uri="{BB962C8B-B14F-4D97-AF65-F5344CB8AC3E}">
        <p14:creationId xmlns:p14="http://schemas.microsoft.com/office/powerpoint/2010/main" val="12490029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kern="1200" dirty="0">
                <a:solidFill>
                  <a:schemeClr val="tx1"/>
                </a:solidFill>
                <a:effectLst/>
                <a:latin typeface="+mn-lt"/>
                <a:ea typeface="+mn-ea"/>
                <a:cs typeface="+mn-cs"/>
              </a:rPr>
              <a:t>Introduction</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In the late 1990s, different theories in the mobility literature emerged  (Castles &amp; Miller, 1998) to explain the growing trend of international mobility as well as the reasons and processes that drive human mobility (de Haas, 2010; Sheller &amp; Urry, 2016). </a:t>
            </a:r>
          </a:p>
          <a:p>
            <a:r>
              <a:rPr lang="en-US" sz="1200" kern="1200" dirty="0">
                <a:solidFill>
                  <a:schemeClr val="tx1"/>
                </a:solidFill>
                <a:effectLst/>
                <a:latin typeface="+mn-lt"/>
                <a:ea typeface="+mn-ea"/>
                <a:cs typeface="+mn-cs"/>
              </a:rPr>
              <a:t>In recent years, however, studies of immobile populations have garnered academic attention, considering the fact that approximately 281 million international migrants, 3.6% of the world’s population, is on the move globally (IOM, 2024). This means about 96.4% of the world’s population is immobile.</a:t>
            </a:r>
          </a:p>
          <a:p>
            <a:r>
              <a:rPr lang="en-US" sz="1200" kern="1200" dirty="0">
                <a:solidFill>
                  <a:schemeClr val="tx1"/>
                </a:solidFill>
                <a:effectLst/>
                <a:latin typeface="+mn-lt"/>
                <a:ea typeface="+mn-ea"/>
                <a:cs typeface="+mn-cs"/>
              </a:rPr>
              <a:t> Drawing on the current figures of immobile population, </a:t>
            </a:r>
            <a:r>
              <a:rPr lang="en-US" sz="1200" kern="1200" dirty="0" err="1">
                <a:solidFill>
                  <a:schemeClr val="tx1"/>
                </a:solidFill>
                <a:effectLst/>
                <a:latin typeface="+mn-lt"/>
                <a:ea typeface="+mn-ea"/>
                <a:cs typeface="+mn-cs"/>
              </a:rPr>
              <a:t>Schewel</a:t>
            </a:r>
            <a:r>
              <a:rPr lang="en-US" sz="1200" kern="1200" dirty="0">
                <a:solidFill>
                  <a:schemeClr val="tx1"/>
                </a:solidFill>
                <a:effectLst/>
                <a:latin typeface="+mn-lt"/>
                <a:ea typeface="+mn-ea"/>
                <a:cs typeface="+mn-cs"/>
              </a:rPr>
              <a:t> (2019) argues that there is a ‘mobility </a:t>
            </a:r>
            <a:r>
              <a:rPr lang="en-US" sz="1200" kern="1200" dirty="0" err="1">
                <a:solidFill>
                  <a:schemeClr val="tx1"/>
                </a:solidFill>
                <a:effectLst/>
                <a:latin typeface="+mn-lt"/>
                <a:ea typeface="+mn-ea"/>
                <a:cs typeface="+mn-cs"/>
              </a:rPr>
              <a:t>bias’</a:t>
            </a:r>
            <a:r>
              <a:rPr lang="en-US" sz="1200" kern="1200" dirty="0">
                <a:solidFill>
                  <a:schemeClr val="tx1"/>
                </a:solidFill>
                <a:effectLst/>
                <a:latin typeface="+mn-lt"/>
                <a:ea typeface="+mn-ea"/>
                <a:cs typeface="+mn-cs"/>
              </a:rPr>
              <a:t> which is an overemphasis on theoretical and empirical research on the causes and consequences of mobility and migration. </a:t>
            </a:r>
          </a:p>
          <a:p>
            <a:r>
              <a:rPr lang="en-US" sz="1200" kern="1200" dirty="0">
                <a:solidFill>
                  <a:schemeClr val="tx1"/>
                </a:solidFill>
                <a:effectLst/>
                <a:latin typeface="+mn-lt"/>
                <a:ea typeface="+mn-ea"/>
                <a:cs typeface="+mn-cs"/>
              </a:rPr>
              <a:t>Given the recognition that the majority of the global population remains immobile, a number of scholars such as Carling (2002), Carling and </a:t>
            </a:r>
            <a:r>
              <a:rPr lang="en-US" sz="1200" kern="1200" dirty="0" err="1">
                <a:solidFill>
                  <a:schemeClr val="tx1"/>
                </a:solidFill>
                <a:effectLst/>
                <a:latin typeface="+mn-lt"/>
                <a:ea typeface="+mn-ea"/>
                <a:cs typeface="+mn-cs"/>
              </a:rPr>
              <a:t>Schewel</a:t>
            </a:r>
            <a:r>
              <a:rPr lang="en-US" sz="1200" kern="1200" dirty="0">
                <a:solidFill>
                  <a:schemeClr val="tx1"/>
                </a:solidFill>
                <a:effectLst/>
                <a:latin typeface="+mn-lt"/>
                <a:ea typeface="+mn-ea"/>
                <a:cs typeface="+mn-cs"/>
              </a:rPr>
              <a:t> (2018), </a:t>
            </a:r>
            <a:r>
              <a:rPr lang="en-US" sz="1200" kern="1200" dirty="0" err="1">
                <a:solidFill>
                  <a:schemeClr val="tx1"/>
                </a:solidFill>
                <a:effectLst/>
                <a:latin typeface="+mn-lt"/>
                <a:ea typeface="+mn-ea"/>
                <a:cs typeface="+mn-cs"/>
              </a:rPr>
              <a:t>Schewel</a:t>
            </a:r>
            <a:r>
              <a:rPr lang="en-US" sz="1200" kern="1200" dirty="0">
                <a:solidFill>
                  <a:schemeClr val="tx1"/>
                </a:solidFill>
                <a:effectLst/>
                <a:latin typeface="+mn-lt"/>
                <a:ea typeface="+mn-ea"/>
                <a:cs typeface="+mn-cs"/>
              </a:rPr>
              <a:t> (2019), Salazar (2021), and Stock (2019) have turned their attention to this group of people seeking to better understand the phenomenon and its consequences. </a:t>
            </a:r>
          </a:p>
          <a:p>
            <a:r>
              <a:rPr lang="en-US" sz="1200" kern="1200" dirty="0">
                <a:solidFill>
                  <a:schemeClr val="tx1"/>
                </a:solidFill>
                <a:effectLst/>
                <a:latin typeface="+mn-lt"/>
                <a:ea typeface="+mn-ea"/>
                <a:cs typeface="+mn-cs"/>
              </a:rPr>
              <a:t> </a:t>
            </a:r>
          </a:p>
          <a:p>
            <a:endParaRPr lang="en-US" dirty="0"/>
          </a:p>
        </p:txBody>
      </p:sp>
      <p:sp>
        <p:nvSpPr>
          <p:cNvPr id="4" name="Slide Number Placeholder 3"/>
          <p:cNvSpPr>
            <a:spLocks noGrp="1"/>
          </p:cNvSpPr>
          <p:nvPr>
            <p:ph type="sldNum" sz="quarter" idx="5"/>
          </p:nvPr>
        </p:nvSpPr>
        <p:spPr/>
        <p:txBody>
          <a:bodyPr/>
          <a:lstStyle/>
          <a:p>
            <a:fld id="{F966F616-72DA-4E4B-BAA1-BBB42A78663A}" type="slidenum">
              <a:rPr lang="en-US" smtClean="0"/>
              <a:t>3</a:t>
            </a:fld>
            <a:endParaRPr lang="en-US"/>
          </a:p>
        </p:txBody>
      </p:sp>
    </p:spTree>
    <p:extLst>
      <p:ext uri="{BB962C8B-B14F-4D97-AF65-F5344CB8AC3E}">
        <p14:creationId xmlns:p14="http://schemas.microsoft.com/office/powerpoint/2010/main" val="40751426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Problem Statement</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1.  Carling (2002) puts immobility into three distinct categories: voluntary mobility, involuntary immobility and voluntary immobility.  </a:t>
            </a:r>
            <a:r>
              <a:rPr lang="en-US" sz="1200" kern="1200" dirty="0" err="1">
                <a:solidFill>
                  <a:schemeClr val="tx1"/>
                </a:solidFill>
                <a:effectLst/>
                <a:latin typeface="+mn-lt"/>
                <a:ea typeface="+mn-ea"/>
                <a:cs typeface="+mn-cs"/>
              </a:rPr>
              <a:t>Schewel</a:t>
            </a:r>
            <a:r>
              <a:rPr lang="en-US" sz="1200" kern="1200" dirty="0">
                <a:solidFill>
                  <a:schemeClr val="tx1"/>
                </a:solidFill>
                <a:effectLst/>
                <a:latin typeface="+mn-lt"/>
                <a:ea typeface="+mn-ea"/>
                <a:cs typeface="+mn-cs"/>
              </a:rPr>
              <a:t> (2015) further advanced Carling’s three categories of immobility by introducing acquiescent immobility. Even though Carling (2002) and </a:t>
            </a:r>
            <a:r>
              <a:rPr lang="en-US" sz="1200" kern="1200" dirty="0" err="1">
                <a:solidFill>
                  <a:schemeClr val="tx1"/>
                </a:solidFill>
                <a:effectLst/>
                <a:latin typeface="+mn-lt"/>
                <a:ea typeface="+mn-ea"/>
                <a:cs typeface="+mn-cs"/>
              </a:rPr>
              <a:t>Schewel</a:t>
            </a:r>
            <a:r>
              <a:rPr lang="en-US" sz="1200" kern="1200" dirty="0">
                <a:solidFill>
                  <a:schemeClr val="tx1"/>
                </a:solidFill>
                <a:effectLst/>
                <a:latin typeface="+mn-lt"/>
                <a:ea typeface="+mn-ea"/>
                <a:cs typeface="+mn-cs"/>
              </a:rPr>
              <a:t> (2015) identified the categories of immobility, they did not </a:t>
            </a:r>
            <a:r>
              <a:rPr lang="en-US" sz="1200" kern="1200" dirty="0" err="1">
                <a:solidFill>
                  <a:schemeClr val="tx1"/>
                </a:solidFill>
                <a:effectLst/>
                <a:latin typeface="+mn-lt"/>
                <a:ea typeface="+mn-ea"/>
                <a:cs typeface="+mn-cs"/>
              </a:rPr>
              <a:t>conceptualise</a:t>
            </a:r>
            <a:r>
              <a:rPr lang="en-US" sz="1200" kern="1200" dirty="0">
                <a:solidFill>
                  <a:schemeClr val="tx1"/>
                </a:solidFill>
                <a:effectLst/>
                <a:latin typeface="+mn-lt"/>
                <a:ea typeface="+mn-ea"/>
                <a:cs typeface="+mn-cs"/>
              </a:rPr>
              <a:t> the possibility of transitioning through them.</a:t>
            </a:r>
          </a:p>
          <a:p>
            <a:r>
              <a:rPr lang="en-US" sz="1200" kern="1200" dirty="0">
                <a:solidFill>
                  <a:schemeClr val="tx1"/>
                </a:solidFill>
                <a:effectLst/>
                <a:latin typeface="+mn-lt"/>
                <a:ea typeface="+mn-ea"/>
                <a:cs typeface="+mn-cs"/>
              </a:rPr>
              <a:t>2.  A second extension of the literature on immobility focused on transitions. For instance, the works of Roderiguez-Pena (2023), </a:t>
            </a:r>
            <a:r>
              <a:rPr lang="en-US" sz="1200" kern="1200" dirty="0" err="1">
                <a:solidFill>
                  <a:schemeClr val="tx1"/>
                </a:solidFill>
                <a:effectLst/>
                <a:latin typeface="+mn-lt"/>
                <a:ea typeface="+mn-ea"/>
                <a:cs typeface="+mn-cs"/>
              </a:rPr>
              <a:t>Setrana</a:t>
            </a:r>
            <a:r>
              <a:rPr lang="en-US" sz="1200" kern="1200" dirty="0">
                <a:solidFill>
                  <a:schemeClr val="tx1"/>
                </a:solidFill>
                <a:effectLst/>
                <a:latin typeface="+mn-lt"/>
                <a:ea typeface="+mn-ea"/>
                <a:cs typeface="+mn-cs"/>
              </a:rPr>
              <a:t> (2021) demonstrate that it is possible to transition through the four immobility categories identified by Carling and </a:t>
            </a:r>
            <a:r>
              <a:rPr lang="en-US" sz="1200" kern="1200" dirty="0" err="1">
                <a:solidFill>
                  <a:schemeClr val="tx1"/>
                </a:solidFill>
                <a:effectLst/>
                <a:latin typeface="+mn-lt"/>
                <a:ea typeface="+mn-ea"/>
                <a:cs typeface="+mn-cs"/>
              </a:rPr>
              <a:t>Schewel</a:t>
            </a:r>
            <a:r>
              <a:rPr lang="en-US" sz="1200" kern="1200" dirty="0">
                <a:solidFill>
                  <a:schemeClr val="tx1"/>
                </a:solidFill>
                <a:effectLst/>
                <a:latin typeface="+mn-lt"/>
                <a:ea typeface="+mn-ea"/>
                <a:cs typeface="+mn-cs"/>
              </a:rPr>
              <a:t>, but focused only on involuntary immobility and voluntary immobility. </a:t>
            </a:r>
          </a:p>
          <a:p>
            <a:r>
              <a:rPr lang="en-US" sz="1200" kern="1200" dirty="0">
                <a:solidFill>
                  <a:schemeClr val="tx1"/>
                </a:solidFill>
                <a:effectLst/>
                <a:latin typeface="+mn-lt"/>
                <a:ea typeface="+mn-ea"/>
                <a:cs typeface="+mn-cs"/>
              </a:rPr>
              <a:t>3.  Salazar (2021) is also of the view that immobility should be seen as both an analytical concept and lived experience. </a:t>
            </a:r>
          </a:p>
          <a:p>
            <a:endParaRPr lang="en-US" dirty="0"/>
          </a:p>
        </p:txBody>
      </p:sp>
      <p:sp>
        <p:nvSpPr>
          <p:cNvPr id="4" name="Slide Number Placeholder 3"/>
          <p:cNvSpPr>
            <a:spLocks noGrp="1"/>
          </p:cNvSpPr>
          <p:nvPr>
            <p:ph type="sldNum" sz="quarter" idx="5"/>
          </p:nvPr>
        </p:nvSpPr>
        <p:spPr/>
        <p:txBody>
          <a:bodyPr/>
          <a:lstStyle/>
          <a:p>
            <a:fld id="{F966F616-72DA-4E4B-BAA1-BBB42A78663A}" type="slidenum">
              <a:rPr lang="en-US" smtClean="0"/>
              <a:t>4</a:t>
            </a:fld>
            <a:endParaRPr lang="en-US"/>
          </a:p>
        </p:txBody>
      </p:sp>
    </p:spTree>
    <p:extLst>
      <p:ext uri="{BB962C8B-B14F-4D97-AF65-F5344CB8AC3E}">
        <p14:creationId xmlns:p14="http://schemas.microsoft.com/office/powerpoint/2010/main" val="2044390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While there is the recognition that transitioning between mobility and immobility is possible, transitioning between the various categories of immobility has not been explored.</a:t>
            </a:r>
          </a:p>
          <a:p>
            <a:r>
              <a:rPr lang="en-US" sz="1200" kern="1200" dirty="0">
                <a:solidFill>
                  <a:schemeClr val="tx1"/>
                </a:solidFill>
                <a:effectLst/>
                <a:latin typeface="+mn-lt"/>
                <a:ea typeface="+mn-ea"/>
                <a:cs typeface="+mn-cs"/>
              </a:rPr>
              <a:t>This thesis intends to take the concept of transitioning further in two ways.  First, it explores transitioning between voluntary mobility and involuntary immobility. Second, it seeks to examine the process of transitioning through the various categories of immobility identified by Carling (2002) and </a:t>
            </a:r>
            <a:r>
              <a:rPr lang="en-US" sz="1200" kern="1200" dirty="0" err="1">
                <a:solidFill>
                  <a:schemeClr val="tx1"/>
                </a:solidFill>
                <a:effectLst/>
                <a:latin typeface="+mn-lt"/>
                <a:ea typeface="+mn-ea"/>
                <a:cs typeface="+mn-cs"/>
              </a:rPr>
              <a:t>Schewel</a:t>
            </a:r>
            <a:r>
              <a:rPr lang="en-US" sz="1200" kern="1200" dirty="0">
                <a:solidFill>
                  <a:schemeClr val="tx1"/>
                </a:solidFill>
                <a:effectLst/>
                <a:latin typeface="+mn-lt"/>
                <a:ea typeface="+mn-ea"/>
                <a:cs typeface="+mn-cs"/>
              </a:rPr>
              <a:t> (2015). </a:t>
            </a:r>
          </a:p>
          <a:p>
            <a:endParaRPr lang="en-US" dirty="0"/>
          </a:p>
        </p:txBody>
      </p:sp>
      <p:sp>
        <p:nvSpPr>
          <p:cNvPr id="4" name="Slide Number Placeholder 3"/>
          <p:cNvSpPr>
            <a:spLocks noGrp="1"/>
          </p:cNvSpPr>
          <p:nvPr>
            <p:ph type="sldNum" sz="quarter" idx="5"/>
          </p:nvPr>
        </p:nvSpPr>
        <p:spPr/>
        <p:txBody>
          <a:bodyPr/>
          <a:lstStyle/>
          <a:p>
            <a:fld id="{F966F616-72DA-4E4B-BAA1-BBB42A78663A}" type="slidenum">
              <a:rPr lang="en-US" smtClean="0"/>
              <a:t>5</a:t>
            </a:fld>
            <a:endParaRPr lang="en-US"/>
          </a:p>
        </p:txBody>
      </p:sp>
    </p:spTree>
    <p:extLst>
      <p:ext uri="{BB962C8B-B14F-4D97-AF65-F5344CB8AC3E}">
        <p14:creationId xmlns:p14="http://schemas.microsoft.com/office/powerpoint/2010/main" val="8352318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00" dirty="0">
                <a:effectLst/>
                <a:latin typeface="Times New Roman" panose="02020603050405020304" pitchFamily="18" charset="0"/>
                <a:ea typeface="Aptos" panose="020B0004020202020204" pitchFamily="34" charset="0"/>
                <a:cs typeface="Times New Roman" panose="02020603050405020304" pitchFamily="18" charset="0"/>
              </a:rPr>
              <a:t>The main objective of </a:t>
            </a:r>
            <a:r>
              <a:rPr lang="en-GB" dirty="0">
                <a:latin typeface="Times New Roman" panose="02020603050405020304" pitchFamily="18" charset="0"/>
                <a:cs typeface="Times New Roman" panose="02020603050405020304" pitchFamily="18" charset="0"/>
              </a:rPr>
              <a:t>this study is to explore the mobility and immobility experiences of convicted drug mules in Ghana.</a:t>
            </a:r>
            <a:endParaRPr lang="en-US" dirty="0">
              <a:latin typeface="Times New Roman" panose="02020603050405020304" pitchFamily="18"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In tandem with this, the specific objectives of the study are:</a:t>
            </a:r>
            <a:endParaRPr lang="en-US" sz="1200" kern="1200" dirty="0">
              <a:solidFill>
                <a:schemeClr val="tx1"/>
              </a:solidFill>
              <a:effectLst/>
              <a:latin typeface="+mn-lt"/>
              <a:ea typeface="+mn-ea"/>
              <a:cs typeface="+mn-cs"/>
            </a:endParaRPr>
          </a:p>
          <a:p>
            <a:r>
              <a:rPr lang="en-US" dirty="0"/>
              <a:t> </a:t>
            </a:r>
          </a:p>
        </p:txBody>
      </p:sp>
      <p:sp>
        <p:nvSpPr>
          <p:cNvPr id="4" name="Slide Number Placeholder 3"/>
          <p:cNvSpPr>
            <a:spLocks noGrp="1"/>
          </p:cNvSpPr>
          <p:nvPr>
            <p:ph type="sldNum" sz="quarter" idx="5"/>
          </p:nvPr>
        </p:nvSpPr>
        <p:spPr/>
        <p:txBody>
          <a:bodyPr/>
          <a:lstStyle/>
          <a:p>
            <a:fld id="{F966F616-72DA-4E4B-BAA1-BBB42A78663A}" type="slidenum">
              <a:rPr lang="en-US" smtClean="0"/>
              <a:t>6</a:t>
            </a:fld>
            <a:endParaRPr lang="en-US"/>
          </a:p>
        </p:txBody>
      </p:sp>
    </p:spTree>
    <p:extLst>
      <p:ext uri="{BB962C8B-B14F-4D97-AF65-F5344CB8AC3E}">
        <p14:creationId xmlns:p14="http://schemas.microsoft.com/office/powerpoint/2010/main" val="40576163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Methodology </a:t>
            </a:r>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Phenomenology</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My philosophical positioning aligned with hermeneutic phenomenology since I </a:t>
            </a:r>
            <a:r>
              <a:rPr lang="en-US" sz="1200" kern="1200" dirty="0" err="1">
                <a:solidFill>
                  <a:schemeClr val="tx1"/>
                </a:solidFill>
                <a:effectLst/>
                <a:latin typeface="+mn-lt"/>
                <a:ea typeface="+mn-ea"/>
                <a:cs typeface="+mn-cs"/>
              </a:rPr>
              <a:t>saught</a:t>
            </a:r>
            <a:r>
              <a:rPr lang="en-US" sz="1200" kern="1200" dirty="0">
                <a:solidFill>
                  <a:schemeClr val="tx1"/>
                </a:solidFill>
                <a:effectLst/>
                <a:latin typeface="+mn-lt"/>
                <a:ea typeface="+mn-ea"/>
                <a:cs typeface="+mn-cs"/>
              </a:rPr>
              <a:t> to understand how individuals make meaning of their voluntary and involuntary immobility. </a:t>
            </a:r>
          </a:p>
          <a:p>
            <a:r>
              <a:rPr lang="en-US" sz="1200" b="1" kern="1200" dirty="0">
                <a:solidFill>
                  <a:schemeClr val="tx1"/>
                </a:solidFill>
                <a:effectLst/>
                <a:latin typeface="+mn-lt"/>
                <a:ea typeface="+mn-ea"/>
                <a:cs typeface="+mn-cs"/>
              </a:rPr>
              <a:t>Qualitative approach</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Given the sensitive and complex nature of drug trafficking and incarceration, the qualitative research design was deemed most appropriate to understand the complex realities of convicted drug mules, an insight that will be overlooked in a purely quantitative approach</a:t>
            </a:r>
          </a:p>
          <a:p>
            <a:r>
              <a:rPr lang="en-US" sz="1200" kern="1200" dirty="0">
                <a:solidFill>
                  <a:schemeClr val="tx1"/>
                </a:solidFill>
                <a:effectLst/>
                <a:latin typeface="+mn-lt"/>
                <a:ea typeface="+mn-ea"/>
                <a:cs typeface="+mn-cs"/>
              </a:rPr>
              <a:t>The methodological orientation that best suits the purpose of my research is the Interpretative Phenomenological Analysis (IPA). IPA is a qualitative research approach developed by Smith (2011) within psychology to explore how individuals make sense of their lived experiences (Moran, 2013). </a:t>
            </a:r>
          </a:p>
          <a:p>
            <a:r>
              <a:rPr lang="en-US" sz="1200" b="1" kern="1200" dirty="0">
                <a:solidFill>
                  <a:schemeClr val="tx1"/>
                </a:solidFill>
                <a:effectLst/>
                <a:latin typeface="+mn-lt"/>
                <a:ea typeface="+mn-ea"/>
                <a:cs typeface="+mn-cs"/>
              </a:rPr>
              <a:t>Study population</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Convicted drug mules (males and females)</a:t>
            </a:r>
          </a:p>
          <a:p>
            <a:r>
              <a:rPr lang="en-US" sz="1200" kern="1200" dirty="0">
                <a:solidFill>
                  <a:schemeClr val="tx1"/>
                </a:solidFill>
                <a:effectLst/>
                <a:latin typeface="+mn-lt"/>
                <a:ea typeface="+mn-ea"/>
                <a:cs typeface="+mn-cs"/>
              </a:rPr>
              <a:t>Ghanaians and foreign nationals</a:t>
            </a:r>
          </a:p>
          <a:p>
            <a:r>
              <a:rPr lang="en-US" sz="1200" kern="1200" dirty="0">
                <a:solidFill>
                  <a:schemeClr val="tx1"/>
                </a:solidFill>
                <a:effectLst/>
                <a:latin typeface="+mn-lt"/>
                <a:ea typeface="+mn-ea"/>
                <a:cs typeface="+mn-cs"/>
              </a:rPr>
              <a:t>18 years and above</a:t>
            </a:r>
          </a:p>
          <a:p>
            <a:r>
              <a:rPr lang="en-US" sz="1200" kern="1200" dirty="0">
                <a:solidFill>
                  <a:schemeClr val="tx1"/>
                </a:solidFill>
                <a:effectLst/>
                <a:latin typeface="+mn-lt"/>
                <a:ea typeface="+mn-ea"/>
                <a:cs typeface="+mn-cs"/>
              </a:rPr>
              <a:t>Must be in prison beyond 6 months</a:t>
            </a:r>
          </a:p>
          <a:p>
            <a:r>
              <a:rPr lang="en-US" sz="1200" kern="1200" dirty="0">
                <a:solidFill>
                  <a:schemeClr val="tx1"/>
                </a:solidFill>
                <a:effectLst/>
                <a:latin typeface="+mn-lt"/>
                <a:ea typeface="+mn-ea"/>
                <a:cs typeface="+mn-cs"/>
              </a:rPr>
              <a:t> </a:t>
            </a:r>
          </a:p>
          <a:p>
            <a:r>
              <a:rPr lang="en-US" sz="1200" b="1" kern="1200" dirty="0">
                <a:solidFill>
                  <a:schemeClr val="tx1"/>
                </a:solidFill>
                <a:effectLst/>
                <a:latin typeface="+mn-lt"/>
                <a:ea typeface="+mn-ea"/>
                <a:cs typeface="+mn-cs"/>
              </a:rPr>
              <a:t>Sampling Techniques</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Census at the female yard</a:t>
            </a:r>
          </a:p>
          <a:p>
            <a:r>
              <a:rPr lang="en-US" sz="1200" kern="1200" dirty="0">
                <a:solidFill>
                  <a:schemeClr val="tx1"/>
                </a:solidFill>
                <a:effectLst/>
                <a:latin typeface="+mn-lt"/>
                <a:ea typeface="+mn-ea"/>
                <a:cs typeface="+mn-cs"/>
              </a:rPr>
              <a:t>Snowballing at the male yard</a:t>
            </a:r>
          </a:p>
          <a:p>
            <a:r>
              <a:rPr lang="en-US" sz="1200" kern="1200" dirty="0">
                <a:solidFill>
                  <a:schemeClr val="tx1"/>
                </a:solidFill>
                <a:effectLst/>
                <a:latin typeface="+mn-lt"/>
                <a:ea typeface="+mn-ea"/>
                <a:cs typeface="+mn-cs"/>
              </a:rPr>
              <a:t>Purposive for key informants</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 </a:t>
            </a:r>
          </a:p>
          <a:p>
            <a:r>
              <a:rPr lang="en-US" sz="1200" b="1" kern="1200" dirty="0">
                <a:solidFill>
                  <a:schemeClr val="tx1"/>
                </a:solidFill>
                <a:effectLst/>
                <a:latin typeface="+mn-lt"/>
                <a:ea typeface="+mn-ea"/>
                <a:cs typeface="+mn-cs"/>
              </a:rPr>
              <a:t>Sampling size</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 sampling size obtained after reaching saturation was 16, </a:t>
            </a:r>
            <a:r>
              <a:rPr lang="en-US" sz="1200" kern="1200" dirty="0" err="1">
                <a:solidFill>
                  <a:schemeClr val="tx1"/>
                </a:solidFill>
                <a:effectLst/>
                <a:latin typeface="+mn-lt"/>
                <a:ea typeface="+mn-ea"/>
                <a:cs typeface="+mn-cs"/>
              </a:rPr>
              <a:t>ie</a:t>
            </a:r>
            <a:r>
              <a:rPr lang="en-US" sz="1200" kern="1200" dirty="0">
                <a:solidFill>
                  <a:schemeClr val="tx1"/>
                </a:solidFill>
                <a:effectLst/>
                <a:latin typeface="+mn-lt"/>
                <a:ea typeface="+mn-ea"/>
                <a:cs typeface="+mn-cs"/>
              </a:rPr>
              <a:t>, 8 males and eight females</a:t>
            </a:r>
          </a:p>
          <a:p>
            <a:r>
              <a:rPr lang="en-US" sz="1200" b="1" kern="1200" dirty="0">
                <a:solidFill>
                  <a:schemeClr val="tx1"/>
                </a:solidFill>
                <a:effectLst/>
                <a:latin typeface="+mn-lt"/>
                <a:ea typeface="+mn-ea"/>
                <a:cs typeface="+mn-cs"/>
              </a:rPr>
              <a:t>Data analysis</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Transcription was done while conducting the interviews because the prison did not allow me to record</a:t>
            </a:r>
          </a:p>
          <a:p>
            <a:r>
              <a:rPr lang="en-US" sz="1200" kern="1200" dirty="0">
                <a:solidFill>
                  <a:schemeClr val="tx1"/>
                </a:solidFill>
                <a:effectLst/>
                <a:latin typeface="+mn-lt"/>
                <a:ea typeface="+mn-ea"/>
                <a:cs typeface="+mn-cs"/>
              </a:rPr>
              <a:t>After the first four interviews, I began generating initial codes and gained a preliminary understanding of the potential themes emerging from the data. I viewed these interviews as setting the conceptual boundaries of the phenomenon under investigation. </a:t>
            </a:r>
          </a:p>
          <a:p>
            <a:r>
              <a:rPr lang="en-US" sz="1200" kern="1200" dirty="0">
                <a:solidFill>
                  <a:schemeClr val="tx1"/>
                </a:solidFill>
                <a:effectLst/>
                <a:latin typeface="+mn-lt"/>
                <a:ea typeface="+mn-ea"/>
                <a:cs typeface="+mn-cs"/>
              </a:rPr>
              <a:t> </a:t>
            </a:r>
          </a:p>
          <a:p>
            <a:r>
              <a:rPr lang="en-US" sz="1200" b="1" kern="1200" dirty="0">
                <a:solidFill>
                  <a:schemeClr val="tx1"/>
                </a:solidFill>
                <a:effectLst/>
                <a:latin typeface="+mn-lt"/>
                <a:ea typeface="+mn-ea"/>
                <a:cs typeface="+mn-cs"/>
              </a:rPr>
              <a:t>Coding</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First order codes 			Second order codes		Voice/quotes </a:t>
            </a:r>
          </a:p>
          <a:p>
            <a:r>
              <a:rPr lang="en-US" sz="1200" kern="1200" dirty="0">
                <a:solidFill>
                  <a:schemeClr val="tx1"/>
                </a:solidFill>
                <a:effectLst/>
                <a:latin typeface="+mn-lt"/>
                <a:ea typeface="+mn-ea"/>
                <a:cs typeface="+mn-cs"/>
              </a:rPr>
              <a:t>Learning to sew			Vocational skills 		what skill are you learning?</a:t>
            </a:r>
          </a:p>
          <a:p>
            <a:r>
              <a:rPr lang="en-US" sz="1200" kern="1200" dirty="0">
                <a:solidFill>
                  <a:schemeClr val="tx1"/>
                </a:solidFill>
                <a:effectLst/>
                <a:latin typeface="+mn-lt"/>
                <a:ea typeface="+mn-ea"/>
                <a:cs typeface="+mn-cs"/>
              </a:rPr>
              <a:t>Constant headache and feeling weak	 Experiences in prison </a:t>
            </a:r>
          </a:p>
          <a:p>
            <a:r>
              <a:rPr lang="en-US" sz="1200" kern="1200" dirty="0">
                <a:solidFill>
                  <a:schemeClr val="tx1"/>
                </a:solidFill>
                <a:effectLst/>
                <a:latin typeface="+mn-lt"/>
                <a:ea typeface="+mn-ea"/>
                <a:cs typeface="+mn-cs"/>
              </a:rPr>
              <a:t>Thinking too much</a:t>
            </a:r>
          </a:p>
          <a:p>
            <a:r>
              <a:rPr lang="en-US" sz="1200" kern="1200" dirty="0">
                <a:solidFill>
                  <a:schemeClr val="tx1"/>
                </a:solidFill>
                <a:effectLst/>
                <a:latin typeface="+mn-lt"/>
                <a:ea typeface="+mn-ea"/>
                <a:cs typeface="+mn-cs"/>
              </a:rPr>
              <a:t>After generating the codes, I organised them into basic themes, subordinate themes and superordinate themes</a:t>
            </a:r>
          </a:p>
          <a:p>
            <a:r>
              <a:rPr lang="en-US" sz="1200" kern="1200" dirty="0" err="1">
                <a:solidFill>
                  <a:schemeClr val="tx1"/>
                </a:solidFill>
                <a:effectLst/>
                <a:latin typeface="+mn-lt"/>
                <a:ea typeface="+mn-ea"/>
                <a:cs typeface="+mn-cs"/>
              </a:rPr>
              <a:t>Eg.</a:t>
            </a:r>
            <a:r>
              <a:rPr lang="en-US" sz="1200" kern="1200" dirty="0">
                <a:solidFill>
                  <a:schemeClr val="tx1"/>
                </a:solidFill>
                <a:effectLst/>
                <a:latin typeface="+mn-lt"/>
                <a:ea typeface="+mn-ea"/>
                <a:cs typeface="+mn-cs"/>
              </a:rPr>
              <a:t> Working in my neighborhood (basic theme)	No movement within the country of origin (subordinate theme)	mobility trajectories of participants before engaging in drug trafficking (superordinate themes)</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 </a:t>
            </a:r>
          </a:p>
          <a:p>
            <a:r>
              <a:rPr lang="en-US" sz="1200" b="1" kern="1200" dirty="0">
                <a:solidFill>
                  <a:schemeClr val="tx1"/>
                </a:solidFill>
                <a:effectLst/>
                <a:latin typeface="+mn-lt"/>
                <a:ea typeface="+mn-ea"/>
                <a:cs typeface="+mn-cs"/>
              </a:rPr>
              <a:t> </a:t>
            </a:r>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Researcher positionality </a:t>
            </a:r>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 </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On one hand, I have firsthand knowledge of law enforcement and how drug trafficking cases are handled in Ghana. On the other hand, I am deeply engaged in academic inquiry as a student researcher</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I may be seen as an insider because, as a drug law enforcement officer, I have a deep understanding of the legal, procedural, and social contexts surrounding drug trafficking.</a:t>
            </a:r>
          </a:p>
          <a:p>
            <a:r>
              <a:rPr lang="en-US" sz="1200" kern="1200" dirty="0">
                <a:solidFill>
                  <a:schemeClr val="tx1"/>
                </a:solidFill>
                <a:effectLst/>
                <a:latin typeface="+mn-lt"/>
                <a:ea typeface="+mn-ea"/>
                <a:cs typeface="+mn-cs"/>
              </a:rPr>
              <a:t>I am an outsider because I have not lived the experience of being a convicted drug mule.</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I am aware that this dual positionality can enrich my analysis, but also requires reflexivity. I needed to be aware of how my identity, assumptions, and institutional affiliations might affect data collection, interpretation, and participant rapport.</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Although my background gave me valuable insight into how drugs are trafficked into Ghana and the control measures, I was also aware that sharing my professional identity with my participants, the convicted drug mules, might make them uncomfortable or hesitant to speak freely. To help create a safe and open environment for honest conversation, I chose to present myself only as a student researcher during the interviews. This decision was not taken lightly, but it followed ethical guidance in qualitative research that emphasises the importance of building trust and mitigating power imbalances between researcher and participant (Berger, 2016; Holmes, 2020).</a:t>
            </a:r>
          </a:p>
          <a:p>
            <a:endParaRPr lang="en-US" dirty="0"/>
          </a:p>
        </p:txBody>
      </p:sp>
      <p:sp>
        <p:nvSpPr>
          <p:cNvPr id="4" name="Slide Number Placeholder 3"/>
          <p:cNvSpPr>
            <a:spLocks noGrp="1"/>
          </p:cNvSpPr>
          <p:nvPr>
            <p:ph type="sldNum" sz="quarter" idx="5"/>
          </p:nvPr>
        </p:nvSpPr>
        <p:spPr/>
        <p:txBody>
          <a:bodyPr/>
          <a:lstStyle/>
          <a:p>
            <a:fld id="{F966F616-72DA-4E4B-BAA1-BBB42A78663A}" type="slidenum">
              <a:rPr lang="en-US" smtClean="0"/>
              <a:t>7</a:t>
            </a:fld>
            <a:endParaRPr lang="en-US"/>
          </a:p>
        </p:txBody>
      </p:sp>
    </p:spTree>
    <p:extLst>
      <p:ext uri="{BB962C8B-B14F-4D97-AF65-F5344CB8AC3E}">
        <p14:creationId xmlns:p14="http://schemas.microsoft.com/office/powerpoint/2010/main" val="20750725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966F616-72DA-4E4B-BAA1-BBB42A78663A}" type="slidenum">
              <a:rPr lang="en-US" smtClean="0"/>
              <a:t>8</a:t>
            </a:fld>
            <a:endParaRPr lang="en-US"/>
          </a:p>
        </p:txBody>
      </p:sp>
    </p:spTree>
    <p:extLst>
      <p:ext uri="{BB962C8B-B14F-4D97-AF65-F5344CB8AC3E}">
        <p14:creationId xmlns:p14="http://schemas.microsoft.com/office/powerpoint/2010/main" val="12490029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DD7EC2-E5D8-F742-1B67-054FF0866F4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7A00BB6-1739-C6B5-9716-28AB89FF2D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92B4C73-ACB3-7C9F-7EA5-2938A0344044}"/>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5912DAEB-3F38-A327-9E2B-F5B42236E7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D2C4D2-F373-1FDD-0C14-B0A5EE67898B}"/>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3202589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58BDB-9BFB-33BD-36E2-CB774FA5071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C0EBEC1-929D-A242-6F90-1148AB735D4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7C69D1-F584-0904-FC78-1845E1CE9CB1}"/>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C06E6342-5ECF-1C98-5658-39498D805F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42FAC61-7EF5-A0A9-7407-77FCBC604580}"/>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65309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23C68F-4357-6C0B-EFF4-6056CFE0274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37434F9-9472-5E2E-37A2-1C668D4EE77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165E404-4C0A-77ED-B4F0-F150408E2701}"/>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CC47E8BC-3C9D-288D-A877-4B49F26D41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D304336-DB89-C939-F991-F3B56B48D96C}"/>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9883839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DE173-84FE-131A-FDEC-10EB764DA2F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9AD527-C4A0-467A-A074-20997F2F9B7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AE8166C-5D25-2F7A-68E2-89811F37E2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FA11F9-6FE3-AE70-BB60-74D68595EF93}"/>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6" name="Footer Placeholder 5">
            <a:extLst>
              <a:ext uri="{FF2B5EF4-FFF2-40B4-BE49-F238E27FC236}">
                <a16:creationId xmlns:a16="http://schemas.microsoft.com/office/drawing/2014/main" id="{4BDC4B88-4529-9622-3DFF-0A9E8F047F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1149887-301D-192D-6E4E-0B5CD9F58651}"/>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36107422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E8185E-3938-13F4-071F-9C47FBD6098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5328229-9E26-4A8D-CE13-5195A4F3BEB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04DE16-D620-E567-A074-2B6A54D885E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6B1B9-8555-7B1C-2D30-CA652A28189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D0F61AE-EC15-64C2-A098-EC225FEFBFB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92DFBB5-D787-915A-9095-24B00FA2AC94}"/>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8" name="Footer Placeholder 7">
            <a:extLst>
              <a:ext uri="{FF2B5EF4-FFF2-40B4-BE49-F238E27FC236}">
                <a16:creationId xmlns:a16="http://schemas.microsoft.com/office/drawing/2014/main" id="{F711DC54-8C33-C55A-F365-B3AC72A6BA0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5363D3E-D67B-702D-ADA5-2F2C9111BF9F}"/>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9616513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4C649D-C7B1-FC2E-BE2E-20E16B49B25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86BDD17-2483-9991-3C02-F104B65F2F73}"/>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4" name="Footer Placeholder 3">
            <a:extLst>
              <a:ext uri="{FF2B5EF4-FFF2-40B4-BE49-F238E27FC236}">
                <a16:creationId xmlns:a16="http://schemas.microsoft.com/office/drawing/2014/main" id="{9D1C0FB9-E42D-9741-BA7C-C811901B70E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A55081D-BB5A-9B2F-8F12-4376917E0894}"/>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26494001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416FCAA-D61A-19AA-2CFD-EDCFFE232B38}"/>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3" name="Footer Placeholder 2">
            <a:extLst>
              <a:ext uri="{FF2B5EF4-FFF2-40B4-BE49-F238E27FC236}">
                <a16:creationId xmlns:a16="http://schemas.microsoft.com/office/drawing/2014/main" id="{CDD15071-F236-77A8-4671-2C96684897F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F83CB8E-1A45-9FF7-122B-46108F80B893}"/>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9715597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57F21-6BEA-4D7A-A020-D2D73BA2D3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F6C2EB-2067-EDE8-6730-13C68662637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9A68C07-B368-9A92-7D94-899AA230A9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01C4715-8548-B8CD-E46B-32F52F97AC6B}"/>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6" name="Footer Placeholder 5">
            <a:extLst>
              <a:ext uri="{FF2B5EF4-FFF2-40B4-BE49-F238E27FC236}">
                <a16:creationId xmlns:a16="http://schemas.microsoft.com/office/drawing/2014/main" id="{D94805EB-68F0-0925-B5E2-992A26ACDCC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678064D-3984-66E1-79F6-BF412DE9007B}"/>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23878899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E40A8-7CE6-6E2F-987D-F9931444B2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49A3B3C-B1CD-FC66-30C0-066CC8711E3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7130723-2359-C212-1784-4C60E5DC26B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286E1BF-418B-5A5E-B8CE-971EBA46EBA1}"/>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6" name="Footer Placeholder 5">
            <a:extLst>
              <a:ext uri="{FF2B5EF4-FFF2-40B4-BE49-F238E27FC236}">
                <a16:creationId xmlns:a16="http://schemas.microsoft.com/office/drawing/2014/main" id="{0D858B19-C047-7376-4094-335A262B877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E3E811-B1A3-3062-66D6-3B924C39DCF1}"/>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22140510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E613B-3E08-B9D4-3543-2765320040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B8505-E673-B14D-57BC-B609C294E3E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ED7D8F-1AC7-0420-F070-FDFD3C35B784}"/>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3692FD22-A5B5-C5E8-19C9-E29BD895B0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2D55BE-B31F-9976-5801-16A4491DC193}"/>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8022747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E714E13-7DDD-7B01-B532-2B2A88B6633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B1CBB8E-647A-192C-E328-241E73841B4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7BDFD78-3A20-22DE-6D4C-9A66BC0078A4}"/>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639FA80B-D752-6CA7-C60B-AAF3A51B523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C1C125-E0EA-8BB4-A43E-4E1CCF0CDD89}"/>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1660196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pPr fontAlgn="base"/>
            <a:r>
              <a:rPr lang="en-US" strike="noStrike" noProof="1"/>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fontAlgn="base"/>
            <a:r>
              <a:rPr lang="en-US" strike="noStrike" noProof="1"/>
              <a:t>Click to edit Master subtitle style</a:t>
            </a:r>
          </a:p>
        </p:txBody>
      </p:sp>
      <p:sp>
        <p:nvSpPr>
          <p:cNvPr id="4" name="Date Placeholder 3"/>
          <p:cNvSpPr>
            <a:spLocks noGrp="1"/>
          </p:cNvSpPr>
          <p:nvPr>
            <p:ph type="dt" sz="half" idx="10"/>
          </p:nvPr>
        </p:nvSpPr>
        <p:spPr/>
        <p:txBody>
          <a:bodyPr/>
          <a:lstStyle/>
          <a:p>
            <a:pPr fontAlgn="base">
              <a:spcBef>
                <a:spcPct val="0"/>
              </a:spcBef>
              <a:spcAft>
                <a:spcPct val="0"/>
              </a:spcAft>
              <a:defRPr/>
            </a:pPr>
            <a:fld id="{74E860EC-E542-457A-B70C-3F9F24F46ECA}"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4483390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Content Placeholder 2"/>
          <p:cNvSpPr>
            <a:spLocks noGrp="1"/>
          </p:cNvSpPr>
          <p:nvPr>
            <p:ph idx="1"/>
          </p:nvPr>
        </p:nvSpPr>
        <p:spPr/>
        <p:txBody>
          <a:body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Date Placeholder 3"/>
          <p:cNvSpPr>
            <a:spLocks noGrp="1"/>
          </p:cNvSpPr>
          <p:nvPr>
            <p:ph type="dt" sz="half" idx="10"/>
          </p:nvPr>
        </p:nvSpPr>
        <p:spPr/>
        <p:txBody>
          <a:bodyPr/>
          <a:lstStyle/>
          <a:p>
            <a:pPr fontAlgn="base">
              <a:spcBef>
                <a:spcPct val="0"/>
              </a:spcBef>
              <a:spcAft>
                <a:spcPct val="0"/>
              </a:spcAft>
              <a:defRPr/>
            </a:pPr>
            <a:fld id="{A9287898-D9AE-4049-9D19-ED0B1E1963CA}"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3304225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pPr fontAlgn="base"/>
            <a:r>
              <a:rPr lang="en-US" strike="noStrike" noProof="1"/>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fontAlgn="base"/>
            <a:r>
              <a:rPr lang="en-US" strike="noStrike" noProof="1"/>
              <a:t>Click to edit Master text styles</a:t>
            </a:r>
          </a:p>
        </p:txBody>
      </p:sp>
      <p:sp>
        <p:nvSpPr>
          <p:cNvPr id="4" name="Date Placeholder 3"/>
          <p:cNvSpPr>
            <a:spLocks noGrp="1"/>
          </p:cNvSpPr>
          <p:nvPr>
            <p:ph type="dt" sz="half" idx="10"/>
          </p:nvPr>
        </p:nvSpPr>
        <p:spPr/>
        <p:txBody>
          <a:bodyPr/>
          <a:lstStyle/>
          <a:p>
            <a:pPr fontAlgn="base">
              <a:spcBef>
                <a:spcPct val="0"/>
              </a:spcBef>
              <a:spcAft>
                <a:spcPct val="0"/>
              </a:spcAft>
              <a:defRPr/>
            </a:pPr>
            <a:fld id="{39162D6E-70EE-4FB2-88ED-8A53CBADEAC3}"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41851392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5" name="Date Placeholder 4"/>
          <p:cNvSpPr>
            <a:spLocks noGrp="1"/>
          </p:cNvSpPr>
          <p:nvPr>
            <p:ph type="dt" sz="half" idx="10"/>
          </p:nvPr>
        </p:nvSpPr>
        <p:spPr/>
        <p:txBody>
          <a:bodyPr/>
          <a:lstStyle/>
          <a:p>
            <a:pPr fontAlgn="base">
              <a:spcBef>
                <a:spcPct val="0"/>
              </a:spcBef>
              <a:spcAft>
                <a:spcPct val="0"/>
              </a:spcAft>
              <a:defRPr/>
            </a:pPr>
            <a:fld id="{D3680DC9-3D5C-4B78-93A2-8216A5967CEE}"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95965687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pPr fontAlgn="base"/>
            <a:r>
              <a:rPr lang="en-US" strike="noStrike" noProof="1"/>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en-US" strike="noStrike" noProof="1"/>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en-US" strike="noStrike" noProof="1"/>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7" name="Date Placeholder 6"/>
          <p:cNvSpPr>
            <a:spLocks noGrp="1"/>
          </p:cNvSpPr>
          <p:nvPr>
            <p:ph type="dt" sz="half" idx="10"/>
          </p:nvPr>
        </p:nvSpPr>
        <p:spPr/>
        <p:txBody>
          <a:bodyPr/>
          <a:lstStyle/>
          <a:p>
            <a:pPr fontAlgn="base">
              <a:spcBef>
                <a:spcPct val="0"/>
              </a:spcBef>
              <a:spcAft>
                <a:spcPct val="0"/>
              </a:spcAft>
              <a:defRPr/>
            </a:pPr>
            <a:fld id="{BB9EE8C9-0B5D-4609-8390-6AA8549DB10F}"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8" name="Footer Placeholder 7"/>
          <p:cNvSpPr>
            <a:spLocks noGrp="1"/>
          </p:cNvSpPr>
          <p:nvPr>
            <p:ph type="ftr" sz="quarter" idx="11"/>
          </p:nvPr>
        </p:nvSpPr>
        <p:spPr/>
        <p:txBody>
          <a:bodyPr/>
          <a:lstStyle/>
          <a:p>
            <a:pPr>
              <a:defRPr/>
            </a:pPr>
            <a:endParaRPr lang="en-US"/>
          </a:p>
        </p:txBody>
      </p:sp>
      <p:sp>
        <p:nvSpPr>
          <p:cNvPr id="9" name="Slide Number Placeholder 8"/>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178005363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Date Placeholder 2"/>
          <p:cNvSpPr>
            <a:spLocks noGrp="1"/>
          </p:cNvSpPr>
          <p:nvPr>
            <p:ph type="dt" sz="half" idx="10"/>
          </p:nvPr>
        </p:nvSpPr>
        <p:spPr/>
        <p:txBody>
          <a:bodyPr/>
          <a:lstStyle/>
          <a:p>
            <a:pPr fontAlgn="base">
              <a:spcBef>
                <a:spcPct val="0"/>
              </a:spcBef>
              <a:spcAft>
                <a:spcPct val="0"/>
              </a:spcAft>
              <a:defRPr/>
            </a:pPr>
            <a:fld id="{DCD4ABCE-EACE-4151-B61F-945E2463617C}"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4" name="Footer Placeholder 3"/>
          <p:cNvSpPr>
            <a:spLocks noGrp="1"/>
          </p:cNvSpPr>
          <p:nvPr>
            <p:ph type="ftr" sz="quarter" idx="11"/>
          </p:nvPr>
        </p:nvSpPr>
        <p:spPr/>
        <p:txBody>
          <a:bodyPr/>
          <a:lstStyle/>
          <a:p>
            <a:pPr>
              <a:defRPr/>
            </a:pPr>
            <a:endParaRPr lang="en-US"/>
          </a:p>
        </p:txBody>
      </p:sp>
      <p:sp>
        <p:nvSpPr>
          <p:cNvPr id="5" name="Slide Number Placeholder 4"/>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381732207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fontAlgn="base">
              <a:spcBef>
                <a:spcPct val="0"/>
              </a:spcBef>
              <a:spcAft>
                <a:spcPct val="0"/>
              </a:spcAft>
              <a:defRPr/>
            </a:pPr>
            <a:fld id="{CDF28FB7-0FB9-463E-BF45-7E2885595341}"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3" name="Footer Placeholder 2"/>
          <p:cNvSpPr>
            <a:spLocks noGrp="1"/>
          </p:cNvSpPr>
          <p:nvPr>
            <p:ph type="ftr" sz="quarter" idx="11"/>
          </p:nvPr>
        </p:nvSpPr>
        <p:spPr/>
        <p:txBody>
          <a:bodyPr/>
          <a:lstStyle/>
          <a:p>
            <a:pPr>
              <a:defRPr/>
            </a:pPr>
            <a:endParaRPr lang="en-US"/>
          </a:p>
        </p:txBody>
      </p:sp>
      <p:sp>
        <p:nvSpPr>
          <p:cNvPr id="4" name="Slide Number Placeholder 3"/>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15306472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pPr fontAlgn="base"/>
            <a:r>
              <a:rPr lang="en-US" strike="noStrike" noProof="1"/>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en-US" strike="noStrike" noProof="1"/>
              <a:t>Click to edit Master text styles</a:t>
            </a:r>
          </a:p>
        </p:txBody>
      </p:sp>
      <p:sp>
        <p:nvSpPr>
          <p:cNvPr id="5" name="Date Placeholder 4"/>
          <p:cNvSpPr>
            <a:spLocks noGrp="1"/>
          </p:cNvSpPr>
          <p:nvPr>
            <p:ph type="dt" sz="half" idx="10"/>
          </p:nvPr>
        </p:nvSpPr>
        <p:spPr/>
        <p:txBody>
          <a:bodyPr/>
          <a:lstStyle/>
          <a:p>
            <a:pPr fontAlgn="base">
              <a:spcBef>
                <a:spcPct val="0"/>
              </a:spcBef>
              <a:spcAft>
                <a:spcPct val="0"/>
              </a:spcAft>
              <a:defRPr/>
            </a:pPr>
            <a:fld id="{68F30A16-9233-43B3-A274-11457D04124B}"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246597996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pPr fontAlgn="base"/>
            <a:r>
              <a:rPr lang="en-US" strike="noStrike" noProof="1"/>
              <a:t>Click to edit Master title style</a:t>
            </a:r>
          </a:p>
        </p:txBody>
      </p:sp>
      <p:sp>
        <p:nvSpPr>
          <p:cNvPr id="3" name="Picture Placeholder 2"/>
          <p:cNvSpPr>
            <a:spLocks noGrp="1"/>
          </p:cNvSpPr>
          <p:nvPr>
            <p:ph type="pic" idx="1"/>
          </p:nvPr>
        </p:nvSpPr>
        <p:spPr>
          <a:xfrm>
            <a:off x="2389717" y="612775"/>
            <a:ext cx="7315200" cy="4114800"/>
          </a:xfrm>
        </p:spPr>
        <p:txBody>
          <a:bodyPr vert="horz" wrap="square" lIns="91440" tIns="45720" rIns="91440" bIns="45720" numCol="1" rtlCol="0" anchor="t" anchorCtr="0" compatLnSpc="1">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0" fontAlgn="base" latinLnBrk="0" hangingPunct="0">
              <a:lnSpc>
                <a:spcPct val="100000"/>
              </a:lnSpc>
              <a:spcBef>
                <a:spcPct val="20000"/>
              </a:spcBef>
              <a:spcAft>
                <a:spcPct val="0"/>
              </a:spcAft>
              <a:buClrTx/>
              <a:buSzTx/>
              <a:buFont typeface="Arial" panose="020B0604020202020204" pitchFamily="34" charset="0"/>
              <a:buNone/>
              <a:defRPr/>
            </a:pPr>
            <a:endParaRPr kumimoji="0" lang="en-US" sz="3200" b="0" i="0" u="none" strike="noStrike" kern="1200" cap="none" spc="0" normalizeH="0" baseline="0" noProof="0">
              <a:ln>
                <a:noFill/>
              </a:ln>
              <a:solidFill>
                <a:schemeClr val="tx1"/>
              </a:solidFill>
              <a:effectLst/>
              <a:uLnTx/>
              <a:uFillTx/>
              <a:latin typeface="+mn-lt"/>
              <a:ea typeface="MS PGothic" panose="020B0600070205080204" pitchFamily="34" charset="-128"/>
              <a:cs typeface="+mn-cs"/>
            </a:endParaRPr>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en-US" strike="noStrike" noProof="1"/>
              <a:t>Click to edit Master text styles</a:t>
            </a:r>
          </a:p>
        </p:txBody>
      </p:sp>
      <p:sp>
        <p:nvSpPr>
          <p:cNvPr id="5" name="Date Placeholder 4"/>
          <p:cNvSpPr>
            <a:spLocks noGrp="1"/>
          </p:cNvSpPr>
          <p:nvPr>
            <p:ph type="dt" sz="half" idx="10"/>
          </p:nvPr>
        </p:nvSpPr>
        <p:spPr/>
        <p:txBody>
          <a:bodyPr/>
          <a:lstStyle/>
          <a:p>
            <a:pPr fontAlgn="base">
              <a:spcBef>
                <a:spcPct val="0"/>
              </a:spcBef>
              <a:spcAft>
                <a:spcPct val="0"/>
              </a:spcAft>
              <a:defRPr/>
            </a:pPr>
            <a:fld id="{E8677AB9-B3E0-47F2-91D3-109594D79C4B}"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61943193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Vertical Text Placeholder 2"/>
          <p:cNvSpPr>
            <a:spLocks noGrp="1"/>
          </p:cNvSpPr>
          <p:nvPr>
            <p:ph type="body" orient="vert" idx="1"/>
          </p:nvPr>
        </p:nvSpPr>
        <p:spPr/>
        <p:txBody>
          <a:bodyPr vert="eaVert"/>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Date Placeholder 3"/>
          <p:cNvSpPr>
            <a:spLocks noGrp="1"/>
          </p:cNvSpPr>
          <p:nvPr>
            <p:ph type="dt" sz="half" idx="10"/>
          </p:nvPr>
        </p:nvSpPr>
        <p:spPr/>
        <p:txBody>
          <a:bodyPr/>
          <a:lstStyle/>
          <a:p>
            <a:pPr fontAlgn="base">
              <a:spcBef>
                <a:spcPct val="0"/>
              </a:spcBef>
              <a:spcAft>
                <a:spcPct val="0"/>
              </a:spcAft>
              <a:defRPr/>
            </a:pPr>
            <a:fld id="{A7F2A97E-5CE7-416F-AB2B-5750179EE4FB}"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286071277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pPr fontAlgn="base"/>
            <a:r>
              <a:rPr lang="en-US" strike="noStrike" noProof="1"/>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Date Placeholder 3"/>
          <p:cNvSpPr>
            <a:spLocks noGrp="1"/>
          </p:cNvSpPr>
          <p:nvPr>
            <p:ph type="dt" sz="half" idx="10"/>
          </p:nvPr>
        </p:nvSpPr>
        <p:spPr/>
        <p:txBody>
          <a:bodyPr/>
          <a:lstStyle/>
          <a:p>
            <a:pPr fontAlgn="base">
              <a:spcBef>
                <a:spcPct val="0"/>
              </a:spcBef>
              <a:spcAft>
                <a:spcPct val="0"/>
              </a:spcAft>
              <a:defRPr/>
            </a:pPr>
            <a:fld id="{A6E4A193-398A-4DA3-ABE0-39035D81DE08}"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24045277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jpe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E749AA-DFC1-412B-8D1A-31ABB7D916F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9CA5D24-207D-F318-C215-A84F996DFEC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DCF0A67-ABB6-4314-7B8E-00F52B15C83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1A1418D7-FCBF-5B99-17E2-6C586E07222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5FCDC88-7F57-5757-67CB-EED58993590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41024BC-5968-4735-8D30-B72DEF6BE683}" type="slidenum">
              <a:rPr lang="en-US" smtClean="0"/>
              <a:t>‹#›</a:t>
            </a:fld>
            <a:endParaRPr lang="en-US"/>
          </a:p>
        </p:txBody>
      </p:sp>
    </p:spTree>
    <p:extLst>
      <p:ext uri="{BB962C8B-B14F-4D97-AF65-F5344CB8AC3E}">
        <p14:creationId xmlns:p14="http://schemas.microsoft.com/office/powerpoint/2010/main" val="30118941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rotWithShape="0">
          <a:blip r:embed="rId13"/>
          <a:stretch>
            <a:fillRect/>
          </a:stretch>
        </a:blip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a:xfrm>
            <a:off x="609600" y="274638"/>
            <a:ext cx="10972800" cy="1143000"/>
          </a:xfrm>
          <a:prstGeom prst="rect">
            <a:avLst/>
          </a:prstGeom>
          <a:noFill/>
          <a:ln w="9525">
            <a:noFill/>
          </a:ln>
        </p:spPr>
        <p:txBody>
          <a:bodyPr anchor="ctr" anchorCtr="0"/>
          <a:lstStyle/>
          <a:p>
            <a:pPr lvl="0"/>
            <a:r>
              <a:rPr lang="en-US" altLang="en-US" dirty="0"/>
              <a:t>Click to edit Master title style</a:t>
            </a:r>
          </a:p>
        </p:txBody>
      </p:sp>
      <p:sp>
        <p:nvSpPr>
          <p:cNvPr id="1027" name="Text Placeholder 2"/>
          <p:cNvSpPr>
            <a:spLocks noGrp="1"/>
          </p:cNvSpPr>
          <p:nvPr>
            <p:ph type="body"/>
          </p:nvPr>
        </p:nvSpPr>
        <p:spPr>
          <a:xfrm>
            <a:off x="609600" y="1600201"/>
            <a:ext cx="10972800" cy="4525963"/>
          </a:xfrm>
          <a:prstGeom prst="rect">
            <a:avLst/>
          </a:prstGeom>
          <a:noFill/>
          <a:ln w="9525">
            <a:noFill/>
          </a:ln>
        </p:spPr>
        <p:txBody>
          <a:bodyPr anchor="t" anchorCtr="0"/>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wrap="square" lIns="91440" tIns="45720" rIns="91440" bIns="45720" numCol="1" anchor="ctr" anchorCtr="0" compatLnSpc="1"/>
          <a:lstStyle>
            <a:lvl1pPr eaLnBrk="1" hangingPunct="1">
              <a:defRPr sz="1200">
                <a:solidFill>
                  <a:srgbClr val="898989"/>
                </a:solidFill>
              </a:defRPr>
            </a:lvl1pPr>
          </a:lstStyle>
          <a:p>
            <a:pPr fontAlgn="base">
              <a:spcBef>
                <a:spcPct val="0"/>
              </a:spcBef>
              <a:spcAft>
                <a:spcPct val="0"/>
              </a:spcAft>
              <a:defRPr/>
            </a:pPr>
            <a:fld id="{AE91B204-41D7-48AE-A13E-6E23B3D8CB2B}"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tx1">
                    <a:tint val="75000"/>
                  </a:schemeClr>
                </a:solidFill>
                <a:latin typeface="+mn-lt"/>
                <a:ea typeface="+mn-ea"/>
                <a:cs typeface="+mn-cs"/>
              </a:defRPr>
            </a:lvl1pPr>
          </a:lstStyle>
          <a:p>
            <a:pPr>
              <a:defRPr/>
            </a:pPr>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wrap="square" lIns="91440" tIns="45720" rIns="91440" bIns="45720" numCol="1" anchor="ctr" anchorCtr="0" compatLnSpc="1"/>
          <a:lstStyle>
            <a:lvl1pPr algn="r" eaLnBrk="1" hangingPunct="1">
              <a:defRPr sz="1200">
                <a:solidFill>
                  <a:srgbClr val="898989"/>
                </a:solidFill>
              </a:defRPr>
            </a:lvl1p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42955182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p:txStyles>
    <p:titleStyle>
      <a:lvl1pPr algn="ctr" rtl="0" eaLnBrk="0" fontAlgn="base" hangingPunct="0">
        <a:spcBef>
          <a:spcPct val="0"/>
        </a:spcBef>
        <a:spcAft>
          <a:spcPct val="0"/>
        </a:spcAft>
        <a:defRPr sz="4400" kern="1200">
          <a:solidFill>
            <a:schemeClr val="tx1"/>
          </a:solidFill>
          <a:latin typeface="+mj-lt"/>
          <a:ea typeface="MS PGothic" panose="020B0600070205080204" pitchFamily="34" charset="-128"/>
          <a:cs typeface="+mj-cs"/>
        </a:defRPr>
      </a:lvl1pPr>
      <a:lvl2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2pPr>
      <a:lvl3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3pPr>
      <a:lvl4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4pPr>
      <a:lvl5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5pPr>
      <a:lvl6pPr marL="457200" algn="ctr" rtl="0" fontAlgn="base">
        <a:spcBef>
          <a:spcPct val="0"/>
        </a:spcBef>
        <a:spcAft>
          <a:spcPct val="0"/>
        </a:spcAft>
        <a:defRPr sz="4400">
          <a:solidFill>
            <a:schemeClr val="tx1"/>
          </a:solidFill>
          <a:latin typeface="Calibri" panose="020F0502020204030204" pitchFamily="34" charset="0"/>
        </a:defRPr>
      </a:lvl6pPr>
      <a:lvl7pPr marL="914400" algn="ctr" rtl="0" fontAlgn="base">
        <a:spcBef>
          <a:spcPct val="0"/>
        </a:spcBef>
        <a:spcAft>
          <a:spcPct val="0"/>
        </a:spcAft>
        <a:defRPr sz="4400">
          <a:solidFill>
            <a:schemeClr val="tx1"/>
          </a:solidFill>
          <a:latin typeface="Calibri" panose="020F0502020204030204" pitchFamily="34" charset="0"/>
        </a:defRPr>
      </a:lvl7pPr>
      <a:lvl8pPr marL="1371600" algn="ctr" rtl="0" fontAlgn="base">
        <a:spcBef>
          <a:spcPct val="0"/>
        </a:spcBef>
        <a:spcAft>
          <a:spcPct val="0"/>
        </a:spcAft>
        <a:defRPr sz="4400">
          <a:solidFill>
            <a:schemeClr val="tx1"/>
          </a:solidFill>
          <a:latin typeface="Calibri" panose="020F0502020204030204" pitchFamily="34" charset="0"/>
        </a:defRPr>
      </a:lvl8pPr>
      <a:lvl9pPr marL="1828800" algn="ctr" rtl="0" fontAlgn="base">
        <a:spcBef>
          <a:spcPct val="0"/>
        </a:spcBef>
        <a:spcAft>
          <a:spcPct val="0"/>
        </a:spcAft>
        <a:defRPr sz="4400">
          <a:solidFill>
            <a:schemeClr val="tx1"/>
          </a:solidFill>
          <a:latin typeface="Calibri" panose="020F0502020204030204" pitchFamily="34" charset="0"/>
        </a:defRPr>
      </a:lvl9pPr>
    </p:titleStyle>
    <p:body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S PGothic" panose="020B0600070205080204" pitchFamily="34" charset="-128"/>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S PGothic" panose="020B0600070205080204" pitchFamily="34" charset="-128"/>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S PGothic" panose="020B0600070205080204" pitchFamily="34" charset="-128"/>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S PGothic" panose="020B0600070205080204" pitchFamily="34" charset="-128"/>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S PGothic" panose="020B0600070205080204" pitchFamily="34" charset="-128"/>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0">
          <a:blip r:embed="rId3"/>
          <a:stretch>
            <a:fillRect/>
          </a:stretch>
        </a:blipFill>
        <a:effectLst/>
      </p:bgPr>
    </p:bg>
    <p:spTree>
      <p:nvGrpSpPr>
        <p:cNvPr id="1" name=""/>
        <p:cNvGrpSpPr/>
        <p:nvPr/>
      </p:nvGrpSpPr>
      <p:grpSpPr>
        <a:xfrm>
          <a:off x="0" y="0"/>
          <a:ext cx="0" cy="0"/>
          <a:chOff x="0" y="0"/>
          <a:chExt cx="0" cy="0"/>
        </a:xfrm>
      </p:grpSpPr>
      <p:sp>
        <p:nvSpPr>
          <p:cNvPr id="3074" name="Title 1"/>
          <p:cNvSpPr>
            <a:spLocks noGrp="1"/>
          </p:cNvSpPr>
          <p:nvPr>
            <p:ph type="ctrTitle"/>
          </p:nvPr>
        </p:nvSpPr>
        <p:spPr>
          <a:xfrm>
            <a:off x="2209800" y="152399"/>
            <a:ext cx="7772400" cy="889819"/>
          </a:xfrm>
        </p:spPr>
        <p:txBody>
          <a:bodyPr vert="horz" wrap="square" lIns="91440" tIns="45720" rIns="91440" bIns="45720" anchor="ctr" anchorCtr="0"/>
          <a:lstStyle/>
          <a:p>
            <a:pPr eaLnBrk="1" hangingPunct="1"/>
            <a:r>
              <a:rPr lang="en-US" sz="2000" b="1" dirty="0">
                <a:solidFill>
                  <a:schemeClr val="bg1"/>
                </a:solidFill>
                <a:latin typeface="Times New Roman" panose="02020603050405020304" pitchFamily="18" charset="0"/>
                <a:ea typeface="Times New Roman" panose="02020603050405020304" pitchFamily="18" charset="0"/>
              </a:rPr>
              <a:t>FINAL YEAR PROJECT PRESENTATION &amp; DEMO</a:t>
            </a:r>
            <a:br>
              <a:rPr lang="en-GB" sz="2000" b="1" dirty="0">
                <a:solidFill>
                  <a:schemeClr val="bg1"/>
                </a:solidFill>
                <a:latin typeface="Times New Roman" panose="02020603050405020304" pitchFamily="18" charset="0"/>
                <a:ea typeface="Times New Roman" panose="02020603050405020304" pitchFamily="18" charset="0"/>
              </a:rPr>
            </a:br>
            <a:endParaRPr lang="en-US" altLang="en-US" sz="2000" b="1" dirty="0">
              <a:solidFill>
                <a:schemeClr val="bg1"/>
              </a:solidFill>
              <a:latin typeface="Times New Roman" panose="02020603050405020304" pitchFamily="18" charset="0"/>
              <a:ea typeface="Times New Roman" panose="02020603050405020304" pitchFamily="18" charset="0"/>
            </a:endParaRPr>
          </a:p>
        </p:txBody>
        <a:txBody>
          <a:bodyPr/>
          <a:lstStyle/>
          <a:p>
            <a:pPr>
              <a:defRPr lang="en-US" sz="3600" dirty="0" typeface="Outfit" b="1">
                <a:solidFill>
                  <a:srgbClr val="1A1A1A"/>
                </a:solidFill>
              </a:defRPr>
            </a:pPr>
            <a:r>
              <a:rPr lang="en-US" sz="3600" dirty="0" typeface="Outfit" b="1">
                <a:solidFill>
                  <a:srgbClr val="1A1A1A"/>
                </a:solidFill>
              </a:rPr>
              <a:t xml:space="preserve">FINAL YEAR PROJECT PRESENTATION &amp; DEMO</a:t>
            </a:r>
          </a:p>
        </a:txBody>
      </p:sp>
      <p:sp>
        <p:nvSpPr>
          <p:cNvPr id="3075" name="Subtitle 2"/>
          <p:cNvSpPr>
            <a:spLocks noGrp="1"/>
          </p:cNvSpPr>
          <p:nvPr>
            <p:ph type="subTitle" idx="1"/>
          </p:nvPr>
        </p:nvSpPr>
        <p:spPr>
          <a:xfrm>
            <a:off x="1602658" y="1182329"/>
            <a:ext cx="8738419" cy="3891116"/>
          </a:xfrm>
        </p:spPr>
        <p:txBody>
          <a:bodyPr vert="horz" wrap="square" lIns="91440" tIns="45720" rIns="91440" bIns="45720" anchor="t" anchorCtr="0"/>
          <a:lstStyle/>
          <a:p>
            <a:pPr eaLnBrk="1" hangingPunct="1">
              <a:buClrTx/>
              <a:buSzTx/>
            </a:pPr>
            <a:r>
              <a:rPr lang="en-US" b="1" dirty="0">
                <a:solidFill>
                  <a:schemeClr val="bg1"/>
                </a:solidFill>
                <a:latin typeface="Times New Roman" panose="02020603050405020304" pitchFamily="18" charset="0"/>
                <a:cs typeface="Times New Roman" panose="02020603050405020304" pitchFamily="18" charset="0"/>
              </a:rPr>
              <a:t>PROJECT TITLE</a:t>
            </a:r>
            <a:endParaRPr lang="en-US" altLang="en-US" sz="20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eaLnBrk="1" hangingPunct="1">
              <a:buClrTx/>
              <a:buSzTx/>
            </a:pPr>
            <a:endParaRPr lang="en-GB" sz="2000" b="1" noProof="0" dirty="0">
              <a:solidFill>
                <a:schemeClr val="bg1"/>
              </a:solidFill>
              <a:latin typeface="Times New Roman" panose="02020603050405020304" pitchFamily="18" charset="0"/>
              <a:ea typeface="Times New Roman" panose="02020603050405020304" pitchFamily="18" charset="0"/>
            </a:endParaRPr>
          </a:p>
          <a:p>
            <a:pPr eaLnBrk="1" hangingPunct="1"/>
            <a:r>
              <a:rPr lang="en-GB" sz="2000" b="1" dirty="0">
                <a:solidFill>
                  <a:schemeClr val="bg1"/>
                </a:solidFill>
                <a:latin typeface="Times New Roman" panose="02020603050405020304" pitchFamily="18" charset="0"/>
                <a:ea typeface="Times New Roman" panose="02020603050405020304" pitchFamily="18" charset="0"/>
              </a:rPr>
              <a:t>NAME</a:t>
            </a:r>
          </a:p>
          <a:p>
            <a:pPr eaLnBrk="1" hangingPunct="1"/>
            <a:r>
              <a:rPr lang="en-GB" sz="2000" b="1" noProof="0" dirty="0">
                <a:solidFill>
                  <a:schemeClr val="bg1"/>
                </a:solidFill>
                <a:latin typeface="Times New Roman" panose="02020603050405020304" pitchFamily="18" charset="0"/>
                <a:ea typeface="Times New Roman" panose="02020603050405020304" pitchFamily="18" charset="0"/>
              </a:rPr>
              <a:t>ID</a:t>
            </a:r>
          </a:p>
          <a:p>
            <a:pPr eaLnBrk="1" hangingPunct="1"/>
            <a:endParaRPr lang="en-GB" sz="2000" b="1" noProof="0" dirty="0">
              <a:solidFill>
                <a:schemeClr val="bg1"/>
              </a:solidFill>
              <a:latin typeface="Times New Roman" panose="02020603050405020304" pitchFamily="18" charset="0"/>
              <a:ea typeface="Times New Roman" panose="02020603050405020304" pitchFamily="18" charset="0"/>
            </a:endParaRPr>
          </a:p>
          <a:p>
            <a:pPr eaLnBrk="1" hangingPunct="1"/>
            <a:r>
              <a:rPr lang="en-GB" sz="1200" b="1" dirty="0">
                <a:solidFill>
                  <a:schemeClr val="bg1"/>
                </a:solidFill>
                <a:latin typeface="Times New Roman" panose="02020603050405020304" pitchFamily="18" charset="0"/>
                <a:ea typeface="Times New Roman" panose="02020603050405020304" pitchFamily="18" charset="0"/>
              </a:rPr>
              <a:t>SUPERVISOR</a:t>
            </a:r>
            <a:r>
              <a:rPr lang="en-GB" sz="1200" b="1">
                <a:solidFill>
                  <a:schemeClr val="bg1"/>
                </a:solidFill>
                <a:latin typeface="Times New Roman" panose="02020603050405020304" pitchFamily="18" charset="0"/>
                <a:ea typeface="Times New Roman" panose="02020603050405020304" pitchFamily="18" charset="0"/>
              </a:rPr>
              <a:t>:             </a:t>
            </a:r>
            <a:r>
              <a:rPr lang="en-GB" sz="1200" b="1" dirty="0">
                <a:solidFill>
                  <a:schemeClr val="bg1"/>
                </a:solidFill>
                <a:latin typeface="Times New Roman" panose="02020603050405020304" pitchFamily="18" charset="0"/>
                <a:ea typeface="Times New Roman" panose="02020603050405020304" pitchFamily="18" charset="0"/>
              </a:rPr>
              <a:t>19</a:t>
            </a:r>
            <a:r>
              <a:rPr lang="en-GB" sz="1200" b="1" baseline="30000" dirty="0">
                <a:solidFill>
                  <a:schemeClr val="bg1"/>
                </a:solidFill>
                <a:latin typeface="Times New Roman" panose="02020603050405020304" pitchFamily="18" charset="0"/>
                <a:ea typeface="Times New Roman" panose="02020603050405020304" pitchFamily="18" charset="0"/>
              </a:rPr>
              <a:t>TH</a:t>
            </a:r>
            <a:r>
              <a:rPr lang="en-GB" sz="1200" b="1" dirty="0">
                <a:solidFill>
                  <a:schemeClr val="bg1"/>
                </a:solidFill>
                <a:latin typeface="Times New Roman" panose="02020603050405020304" pitchFamily="18" charset="0"/>
                <a:ea typeface="Times New Roman" panose="02020603050405020304" pitchFamily="18" charset="0"/>
              </a:rPr>
              <a:t> SEPTEMBER 2025</a:t>
            </a:r>
            <a:endParaRPr lang="en-GB" sz="1200" b="1" noProof="0" dirty="0">
              <a:solidFill>
                <a:schemeClr val="bg1"/>
              </a:solidFill>
              <a:latin typeface="Times New Roman" panose="02020603050405020304" pitchFamily="18" charset="0"/>
              <a:ea typeface="Times New Roman" panose="02020603050405020304" pitchFamily="18" charset="0"/>
            </a:endParaRPr>
          </a:p>
        </p:txBody>
        <a:txBody>
          <a:bodyPr/>
          <a:lstStyle/>
          <a:p>
            <a:pPr>
              <a:defRPr lang="en-US" sz="4800" dirty="0" typeface="Outfit" b="1">
                <a:solidFill>
                  <a:srgbClr val="2E7D32"/>
                </a:solidFill>
              </a:defRPr>
            </a:pPr>
            <a:r>
              <a:rPr lang="en-US" sz="4800" dirty="0" typeface="Outfit" b="1">
                <a:solidFill>
                  <a:srgbClr val="2E7D32"/>
                </a:solidFill>
              </a:rPr>
              <a:t xml:space="preserve">CampusFit</a:t>
            </a:r>
          </a:p>
          <a:p>
            <a:pPr>
              <a:defRPr lang="en-US" sz="2400" dirty="0" typeface="Outfit">
                <a:solidFill>
                  <a:srgbClr val="555555"/>
                </a:solidFill>
              </a:defRPr>
            </a:pPr>
            <a:r>
              <a:rPr lang="en-US" sz="2400" dirty="0" typeface="Outfit">
                <a:solidFill>
                  <a:srgbClr val="555555"/>
                </a:solidFill>
              </a:rPr>
              <a:t xml:space="preserve">A Gamified, Checkpoint-Based Campus Fitness Application</a:t>
            </a:r>
          </a:p>
          <a:p>
            <a:pPr>
              <a:defRPr lang="en-US" sz="1400" dirty="0" typeface="Outfit"/>
            </a:pPr>
            <a:r>
              <a:rPr lang="en-US" sz="1400" dirty="0" typeface="Outfit"/>
              <a:t xml:space="preserve"/>
            </a:r>
          </a:p>
          <a:p>
            <a:pPr>
              <a:defRPr lang="en-US" sz="1800" dirty="0" typeface="Outfit">
                <a:solidFill>
                  <a:srgbClr val="333333"/>
                </a:solidFill>
              </a:defRPr>
            </a:pPr>
            <a:r>
              <a:rPr lang="en-US" sz="1800" dirty="0" typeface="Outfit">
                <a:solidFill>
                  <a:srgbClr val="333333"/>
                </a:solidFill>
              </a:rPr>
              <a:t xml:space="preserve">NAME: Daniel Ntiawuku</a:t>
            </a:r>
          </a:p>
          <a:p>
            <a:pPr>
              <a:defRPr lang="en-US" sz="1800" dirty="0" typeface="Outfit">
                <a:solidFill>
                  <a:srgbClr val="333333"/>
                </a:solidFill>
              </a:defRPr>
            </a:pPr>
            <a:r>
              <a:rPr lang="en-US" sz="1800" dirty="0" typeface="Outfit">
                <a:solidFill>
                  <a:srgbClr val="333333"/>
                </a:solidFill>
              </a:rPr>
              <a:t xml:space="preserve">REG: 2201234567</a:t>
            </a:r>
          </a:p>
          <a:p>
            <a:pPr>
              <a:defRPr lang="en-US" sz="1800" dirty="0" typeface="Outfit">
                <a:solidFill>
                  <a:srgbClr val="333333"/>
                </a:solidFill>
              </a:defRPr>
            </a:pPr>
            <a:r>
              <a:rPr lang="en-US" sz="1800" dirty="0" typeface="Outfit">
                <a:solidFill>
                  <a:srgbClr val="333333"/>
                </a:solidFill>
              </a:rPr>
              <a:t xml:space="preserve">SUPERVISOR: Dr. [Supervisor Name]</a:t>
            </a:r>
          </a:p>
          <a:p>
            <a:pPr>
              <a:defRPr lang="en-US" sz="1800" dirty="0" typeface="Outfit">
                <a:solidFill>
                  <a:srgbClr val="333333"/>
                </a:solidFill>
              </a:defRPr>
            </a:pPr>
            <a:r>
              <a:rPr lang="en-US" sz="1800" dirty="0" typeface="Outfit">
                <a:solidFill>
                  <a:srgbClr val="333333"/>
                </a:solidFill>
              </a:rPr>
              <a:t xml:space="preserve">DEPARTMENT: Computer Science / Software Engineering</a:t>
            </a:r>
          </a:p>
          <a:p>
            <a:pPr>
              <a:defRPr lang="en-US" sz="1800" dirty="0" typeface="Outfit">
                <a:solidFill>
                  <a:srgbClr val="333333"/>
                </a:solidFill>
              </a:defRPr>
            </a:pPr>
            <a:r>
              <a:rPr lang="en-US" sz="1800" dirty="0" typeface="Outfit">
                <a:solidFill>
                  <a:srgbClr val="333333"/>
                </a:solidFill>
              </a:rPr>
              <a:t xml:space="preserve">UNIVERSITY OF GHANA</a:t>
            </a:r>
          </a:p>
          <a:p>
            <a:pPr>
              <a:defRPr lang="en-US" sz="1600" dirty="0" typeface="Outfit">
                <a:solidFill>
                  <a:srgbClr val="666666"/>
                </a:solidFill>
              </a:defRPr>
            </a:pPr>
            <a:r>
              <a:rPr lang="en-US" sz="1600" dirty="0" typeface="Outfit">
                <a:solidFill>
                  <a:srgbClr val="666666"/>
                </a:solidFill>
              </a:rPr>
              <a:t xml:space="preserve">October 2026</a:t>
            </a:r>
          </a:p>
        </a:txBody>
      </p:sp>
      <p:sp>
        <p:nvSpPr>
          <p:cNvPr id="2" name="Date Placeholder 1"/>
          <p:cNvSpPr>
            <a:spLocks noGrp="1"/>
          </p:cNvSpPr>
          <p:nvPr>
            <p:ph type="dt" sz="half" idx="10"/>
          </p:nvPr>
        </p:nvSpPr>
        <p:spPr/>
        <p:txBody>
          <a:bodyPr/>
          <a:lstStyle/>
          <a:p>
            <a:pPr fontAlgn="base">
              <a:spcBef>
                <a:spcPct val="0"/>
              </a:spcBef>
              <a:spcAft>
                <a:spcPct val="0"/>
              </a:spcAft>
              <a:defRPr/>
            </a:pPr>
            <a:fld id="{CBB6B13C-08B2-4F48-BEC8-EC2633766FDF}" type="datetime1">
              <a:rPr lang="en-US">
                <a:latin typeface="Calibri" panose="020F0502020204030204" pitchFamily="34" charset="0"/>
                <a:ea typeface="MS PGothic" panose="020B0600070205080204" pitchFamily="34" charset="-128"/>
              </a:rPr>
              <a:pPr fontAlgn="base">
                <a:spcBef>
                  <a:spcPct val="0"/>
                </a:spcBef>
                <a:spcAft>
                  <a:spcPct val="0"/>
                </a:spcAft>
                <a:defRPr/>
              </a:pPr>
              <a:t>9/15/2025</a:t>
            </a:fld>
            <a:endParaRPr lang="en-US">
              <a:latin typeface="Calibri" panose="020F0502020204030204" pitchFamily="34" charset="0"/>
              <a:ea typeface="MS PGothic" panose="020B0600070205080204" pitchFamily="34" charset="-128"/>
            </a:endParaRPr>
          </a:p>
        </p:txBody>
      </p:sp>
      <p:sp>
        <p:nvSpPr>
          <p:cNvPr id="4" name="Slide Number Placeholder 3"/>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a:latin typeface="Calibri" panose="020F0502020204030204" pitchFamily="34" charset="0"/>
                <a:ea typeface="MS PGothic" panose="020B0600070205080204" pitchFamily="34" charset="-128"/>
              </a:rPr>
              <a:pPr fontAlgn="base">
                <a:spcBef>
                  <a:spcPct val="0"/>
                </a:spcBef>
                <a:spcAft>
                  <a:spcPct val="0"/>
                </a:spcAft>
                <a:defRPr/>
              </a:pPr>
              <a:t>1</a:t>
            </a:fld>
            <a:endParaRPr lang="en-US" altLang="en-US" dirty="0">
              <a:latin typeface="Calibri" panose="020F0502020204030204" pitchFamily="34" charset="0"/>
              <a:ea typeface="MS PGothic" panose="020B0600070205080204" pitchFamily="34" charset="-128"/>
            </a:endParaRPr>
          </a:p>
        </p:txBody>
      </p:sp>
    </p:spTree>
    <p:extLst>
      <p:ext uri="{BB962C8B-B14F-4D97-AF65-F5344CB8AC3E}">
        <p14:creationId xmlns:p14="http://schemas.microsoft.com/office/powerpoint/2010/main" val="588157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en-US" b="1" dirty="0">
                <a:solidFill>
                  <a:schemeClr val="bg1"/>
                </a:solidFill>
                <a:latin typeface="Times New Roman" panose="02020603050405020304" pitchFamily="18" charset="0"/>
                <a:ea typeface="Times New Roman" panose="02020603050405020304" pitchFamily="18" charset="0"/>
                <a:sym typeface="+mn-ea"/>
              </a:rPr>
              <a:t>OUTLINE OF  PRESENTATION</a:t>
            </a:r>
            <a:endParaRPr lang="en-US" dirty="0"/>
          </a:p>
        </p:txBody>
        <a:txBody>
          <a:bodyPr/>
          <a:lstStyle/>
          <a:p>
            <a:pPr>
              <a:defRPr lang="en-US" sz="3600" dirty="0" typeface="Outfit" b="1">
                <a:solidFill>
                  <a:srgbClr val="1A1A1A"/>
                </a:solidFill>
              </a:defRPr>
            </a:pPr>
            <a:r>
              <a:rPr lang="en-US" sz="3600" dirty="0" typeface="Outfit" b="1">
                <a:solidFill>
                  <a:srgbClr val="1A1A1A"/>
                </a:solidFill>
              </a:rPr>
              <a:t xml:space="preserve">Outline of Presentation</a:t>
            </a:r>
          </a:p>
        </a:txBody>
      </p:sp>
      <p:sp>
        <p:nvSpPr>
          <p:cNvPr id="3" name="Content Placeholder 2"/>
          <p:cNvSpPr>
            <a:spLocks noGrp="1"/>
          </p:cNvSpPr>
          <p:nvPr>
            <p:ph idx="1"/>
          </p:nvPr>
        </p:nvSpPr>
        <p:spPr/>
        <p:txBody>
          <a:bodyPr/>
          <a:lstStyle/>
          <a:p>
            <a:endParaRPr lang="en-US" sz="2400" dirty="0">
              <a:latin typeface="Times New Roman" panose="02020603050405020304" pitchFamily="18" charset="0"/>
              <a:cs typeface="Times New Roman" panose="02020603050405020304" pitchFamily="18" charset="0"/>
            </a:endParaRPr>
          </a:p>
        </p:txBody>
        <a:txBody>
          <a:bodyPr/>
          <a:lstStyle/>
          <a:p>
            <a:pPr marL="342900" indent="-342900">
              <a:buFont typeface="Arial"/>
              <a:buAutoNum type="arabicPeriod"/>
              <a:defRPr lang="en-US" sz="1400" typeface="Outfit" dirty="0">
                <a:solidFill>
                  <a:srgbClr val="1A1A1A"/>
                </a:solidFill>
              </a:defRPr>
            </a:pPr>
            <a:r>
              <a:rPr lang="en-US" sz="1400" typeface="Outfit" dirty="0">
                <a:solidFill>
                  <a:srgbClr val="1A1A1A"/>
                </a:solidFill>
              </a:rPr>
            </a:r>
            <a:r>
              <a:rPr lang="en-US" sz="1400" typeface="Arial" color="1A1A1A"/>
              <a:t xml:space="preserve">1. </a:t>
            </a:r>
            <a:r>
              <a:rPr lang="en-US" sz="1400" typeface="Outfit" dirty="0">
                <a:solidFill>
                  <a:srgbClr val="1A1A1A"/>
                </a:solidFill>
              </a:rPr>
              <a:t xml:space="preserve">Problem and motivation</a:t>
            </a:r>
          </a:p>
          <a:p>
            <a:pPr marL="342900" indent="-342900">
              <a:buFont typeface="Arial"/>
              <a:buAutoNum type="arabicPeriod"/>
              <a:defRPr lang="en-US" sz="1400" typeface="Outfit" dirty="0">
                <a:solidFill>
                  <a:srgbClr val="1A1A1A"/>
                </a:solidFill>
              </a:defRPr>
            </a:pPr>
            <a:r>
              <a:rPr lang="en-US" sz="1400" typeface="Outfit" dirty="0">
                <a:solidFill>
                  <a:srgbClr val="1A1A1A"/>
                </a:solidFill>
              </a:rPr>
            </a:r>
            <a:r>
              <a:rPr lang="en-US" sz="1400" typeface="Arial" color="1A1A1A"/>
              <a:t xml:space="preserve">2. </a:t>
            </a:r>
            <a:r>
              <a:rPr lang="en-US" sz="1400" typeface="Outfit" dirty="0">
                <a:solidFill>
                  <a:srgbClr val="1A1A1A"/>
                </a:solidFill>
              </a:rPr>
              <a:t xml:space="preserve">Research aim, questions and objectives</a:t>
            </a:r>
          </a:p>
          <a:p>
            <a:pPr marL="342900" indent="-342900">
              <a:buFont typeface="Arial"/>
              <a:buAutoNum type="arabicPeriod"/>
              <a:defRPr lang="en-US" sz="1400" typeface="Outfit" dirty="0">
                <a:solidFill>
                  <a:srgbClr val="1A1A1A"/>
                </a:solidFill>
              </a:defRPr>
            </a:pPr>
            <a:r>
              <a:rPr lang="en-US" sz="1400" typeface="Outfit" dirty="0">
                <a:solidFill>
                  <a:srgbClr val="1A1A1A"/>
                </a:solidFill>
              </a:rPr>
            </a:r>
            <a:r>
              <a:rPr lang="en-US" sz="1400" typeface="Arial" color="1A1A1A"/>
              <a:t xml:space="preserve">3. </a:t>
            </a:r>
            <a:r>
              <a:rPr lang="en-US" sz="1400" typeface="Outfit" dirty="0">
                <a:solidFill>
                  <a:srgbClr val="1A1A1A"/>
                </a:solidFill>
              </a:rPr>
              <a:t xml:space="preserve">Literature and theoretical framework</a:t>
            </a:r>
          </a:p>
          <a:p>
            <a:pPr marL="342900" indent="-342900">
              <a:buFont typeface="Arial"/>
              <a:buAutoNum type="arabicPeriod"/>
              <a:defRPr lang="en-US" sz="1400" typeface="Outfit" dirty="0">
                <a:solidFill>
                  <a:srgbClr val="1A1A1A"/>
                </a:solidFill>
              </a:defRPr>
            </a:pPr>
            <a:r>
              <a:rPr lang="en-US" sz="1400" typeface="Outfit" dirty="0">
                <a:solidFill>
                  <a:srgbClr val="1A1A1A"/>
                </a:solidFill>
              </a:rPr>
            </a:r>
            <a:r>
              <a:rPr lang="en-US" sz="1400" typeface="Arial" color="1A1A1A"/>
              <a:t xml:space="preserve">4. </a:t>
            </a:r>
            <a:r>
              <a:rPr lang="en-US" sz="1400" typeface="Outfit" dirty="0">
                <a:solidFill>
                  <a:srgbClr val="1A1A1A"/>
                </a:solidFill>
              </a:rPr>
              <a:t xml:space="preserve">Methodology and design</a:t>
            </a:r>
          </a:p>
          <a:p>
            <a:pPr marL="342900" indent="-342900">
              <a:buFont typeface="Arial"/>
              <a:buAutoNum type="arabicPeriod"/>
              <a:defRPr lang="en-US" sz="1400" typeface="Outfit" dirty="0">
                <a:solidFill>
                  <a:srgbClr val="1A1A1A"/>
                </a:solidFill>
              </a:defRPr>
            </a:pPr>
            <a:r>
              <a:rPr lang="en-US" sz="1400" typeface="Outfit" dirty="0">
                <a:solidFill>
                  <a:srgbClr val="1A1A1A"/>
                </a:solidFill>
              </a:rPr>
            </a:r>
            <a:r>
              <a:rPr lang="en-US" sz="1400" typeface="Arial" color="1A1A1A"/>
              <a:t xml:space="preserve">5. </a:t>
            </a:r>
            <a:r>
              <a:rPr lang="en-US" sz="1400" typeface="Outfit" dirty="0">
                <a:solidFill>
                  <a:srgbClr val="1A1A1A"/>
                </a:solidFill>
              </a:rPr>
              <a:t xml:space="preserve">System architecture and implementation</a:t>
            </a:r>
          </a:p>
          <a:p>
            <a:pPr marL="342900" indent="-342900">
              <a:buFont typeface="Arial"/>
              <a:buAutoNum type="arabicPeriod"/>
              <a:defRPr lang="en-US" sz="1400" typeface="Outfit" dirty="0">
                <a:solidFill>
                  <a:srgbClr val="1A1A1A"/>
                </a:solidFill>
              </a:defRPr>
            </a:pPr>
            <a:r>
              <a:rPr lang="en-US" sz="1400" typeface="Outfit" dirty="0">
                <a:solidFill>
                  <a:srgbClr val="1A1A1A"/>
                </a:solidFill>
              </a:rPr>
            </a:r>
            <a:r>
              <a:rPr lang="en-US" sz="1400" typeface="Arial" color="1A1A1A"/>
              <a:t xml:space="preserve">6. </a:t>
            </a:r>
            <a:r>
              <a:rPr lang="en-US" sz="1400" typeface="Outfit" dirty="0">
                <a:solidFill>
                  <a:srgbClr val="1A1A1A"/>
                </a:solidFill>
              </a:rPr>
              <a:t xml:space="preserve">Evaluation: verification, fidelity, performance, reward economy</a:t>
            </a:r>
          </a:p>
          <a:p>
            <a:pPr marL="342900" indent="-342900">
              <a:buFont typeface="Arial"/>
              <a:buAutoNum type="arabicPeriod"/>
              <a:defRPr lang="en-US" sz="1400" typeface="Outfit" dirty="0">
                <a:solidFill>
                  <a:srgbClr val="1A1A1A"/>
                </a:solidFill>
              </a:defRPr>
            </a:pPr>
            <a:r>
              <a:rPr lang="en-US" sz="1400" typeface="Outfit" dirty="0">
                <a:solidFill>
                  <a:srgbClr val="1A1A1A"/>
                </a:solidFill>
              </a:rPr>
            </a:r>
            <a:r>
              <a:rPr lang="en-US" sz="1400" typeface="Arial" color="1A1A1A"/>
              <a:t xml:space="preserve">7. </a:t>
            </a:r>
            <a:r>
              <a:rPr lang="en-US" sz="1400" typeface="Outfit" dirty="0">
                <a:solidFill>
                  <a:srgbClr val="1A1A1A"/>
                </a:solidFill>
              </a:rPr>
              <a:t xml:space="preserve">Findings, contributions and future work</a:t>
            </a:r>
          </a:p>
        </a:txBody>
      </p:sp>
      <p:sp>
        <p:nvSpPr>
          <p:cNvPr id="4" name="Date Placeholder 3"/>
          <p:cNvSpPr>
            <a:spLocks noGrp="1"/>
          </p:cNvSpPr>
          <p:nvPr>
            <p:ph type="dt" sz="half" idx="10"/>
          </p:nvPr>
        </p:nvSpPr>
        <p:spPr/>
        <p:txBody>
          <a:bodyPr/>
          <a:lstStyle/>
          <a:p>
            <a:pPr fontAlgn="base">
              <a:spcBef>
                <a:spcPct val="0"/>
              </a:spcBef>
              <a:spcAft>
                <a:spcPct val="0"/>
              </a:spcAft>
              <a:defRPr/>
            </a:pPr>
            <a:fld id="{A9287898-D9AE-4049-9D19-ED0B1E1963CA}" type="datetime1">
              <a:rPr lang="en-US">
                <a:latin typeface="Calibri" panose="020F0502020204030204" pitchFamily="34" charset="0"/>
                <a:ea typeface="MS PGothic" panose="020B0600070205080204" pitchFamily="34" charset="-128"/>
              </a:rPr>
              <a:pPr fontAlgn="base">
                <a:spcBef>
                  <a:spcPct val="0"/>
                </a:spcBef>
                <a:spcAft>
                  <a:spcPct val="0"/>
                </a:spcAft>
                <a:defRPr/>
              </a:pPr>
              <a:t>9/15/2025</a:t>
            </a:fld>
            <a:endParaRPr lang="en-US">
              <a:latin typeface="Calibri" panose="020F0502020204030204" pitchFamily="34" charset="0"/>
              <a:ea typeface="MS PGothic" panose="020B0600070205080204" pitchFamily="34" charset="-128"/>
            </a:endParaRPr>
          </a:p>
        </p:txBody>
      </p:sp>
      <p:sp>
        <p:nvSpPr>
          <p:cNvPr id="5" name="Slide Number Placeholder 4"/>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a:latin typeface="Calibri" panose="020F0502020204030204" pitchFamily="34" charset="0"/>
                <a:ea typeface="MS PGothic" panose="020B0600070205080204" pitchFamily="34" charset="-128"/>
              </a:rPr>
              <a:pPr fontAlgn="base">
                <a:spcBef>
                  <a:spcPct val="0"/>
                </a:spcBef>
                <a:spcAft>
                  <a:spcPct val="0"/>
                </a:spcAft>
                <a:defRPr/>
              </a:pPr>
              <a:t>2</a:t>
            </a:fld>
            <a:endParaRPr lang="en-US" altLang="en-US">
              <a:latin typeface="Calibri" panose="020F0502020204030204" pitchFamily="34" charset="0"/>
              <a:ea typeface="MS PGothic" panose="020B0600070205080204" pitchFamily="34" charset="-128"/>
            </a:endParaRPr>
          </a:p>
        </p:txBody>
      </p:sp>
    </p:spTree>
    <p:extLst>
      <p:ext uri="{BB962C8B-B14F-4D97-AF65-F5344CB8AC3E}">
        <p14:creationId xmlns:p14="http://schemas.microsoft.com/office/powerpoint/2010/main" val="19323595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79DB1C-537E-FB1F-4362-7D3C0F60D207}"/>
              </a:ext>
            </a:extLst>
          </p:cNvPr>
          <p:cNvSpPr>
            <a:spLocks noGrp="1"/>
          </p:cNvSpPr>
          <p:nvPr>
            <p:ph type="title"/>
          </p:nvPr>
        </p:nvSpPr>
        <p:spPr/>
        <p:txBody>
          <a:bodyPr/>
          <a:lstStyle/>
          <a:p>
            <a:r>
              <a:rPr lang="en-GB" sz="4400" b="1" dirty="0">
                <a:solidFill>
                  <a:schemeClr val="bg2"/>
                </a:solidFill>
                <a:latin typeface="Times New Roman" panose="02020603050405020304" pitchFamily="18" charset="0"/>
                <a:cs typeface="Times New Roman" panose="02020603050405020304" pitchFamily="18" charset="0"/>
              </a:rPr>
              <a:t>Introduction</a:t>
            </a:r>
            <a:endParaRPr lang="en-US" dirty="0">
              <a:solidFill>
                <a:schemeClr val="bg2"/>
              </a:solidFill>
            </a:endParaRPr>
          </a:p>
        </p:txBody>
        <a:txBody>
          <a:bodyPr/>
          <a:lstStyle/>
          <a:p>
            <a:pPr>
              <a:defRPr lang="en-US" sz="3600" dirty="0" typeface="Outfit" b="1">
                <a:solidFill>
                  <a:srgbClr val="1A1A1A"/>
                </a:solidFill>
              </a:defRPr>
            </a:pPr>
            <a:r>
              <a:rPr lang="en-US" sz="3600" dirty="0" typeface="Outfit" b="1">
                <a:solidFill>
                  <a:srgbClr val="1A1A1A"/>
                </a:solidFill>
              </a:rPr>
              <a:t xml:space="preserve">Problem and Motivation</a:t>
            </a:r>
          </a:p>
        </a:txBody>
      </p:sp>
      <p:sp>
        <p:nvSpPr>
          <p:cNvPr id="3" name="Content Placeholder 2">
            <a:extLst>
              <a:ext uri="{FF2B5EF4-FFF2-40B4-BE49-F238E27FC236}">
                <a16:creationId xmlns:a16="http://schemas.microsoft.com/office/drawing/2014/main" id="{3A386C90-A221-580A-FFD5-6EB28AF3FB7E}"/>
              </a:ext>
            </a:extLst>
          </p:cNvPr>
          <p:cNvSpPr>
            <a:spLocks noGrp="1"/>
          </p:cNvSpPr>
          <p:nvPr>
            <p:ph idx="1"/>
          </p:nvPr>
        </p:nvSpPr>
        <p:spPr>
          <a:xfrm>
            <a:off x="609600" y="1619865"/>
            <a:ext cx="10972800" cy="4525963"/>
          </a:xfrm>
        </p:spPr>
        <p:txBody>
          <a:bodyPr/>
          <a:lstStyle/>
          <a:p>
            <a:pPr algn="just"/>
            <a:endParaRPr lang="en-US" altLang="zh-CN" sz="3200" dirty="0">
              <a:latin typeface="Times New Roman" panose="02020603050405020304" pitchFamily="18" charset="0"/>
              <a:sym typeface="+mn-ea"/>
            </a:endParaRPr>
          </a:p>
        </p:txBody>
        <a:txBody>
          <a:bodyPr/>
          <a:lstStyle/>
          <a:p>
            <a:pPr>
              <a:defRPr lang="en-US" sz="2000" dirty="0" typeface="Outfit" b="1">
                <a:solidFill>
                  <a:srgbClr val="2E7D32"/>
                </a:solidFill>
              </a:defRPr>
            </a:pPr>
            <a:r>
              <a:rPr lang="en-US" sz="2000" dirty="0" typeface="Outfit" b="1">
                <a:solidFill>
                  <a:srgbClr val="2E7D32"/>
                </a:solidFill>
              </a:rPr>
              <a:t xml:space="preserve">The Problem</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University students are among the least physically active demographic groups — studies report up to 48% of sampled cohorts classified as inactive (Alkhawaldeh et al., 2022).</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At the University of Ghana, scattered lecture blocks, residential halls and libraries create natural walking and running routes that go underused as fitness infrastructure.</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Existing fitness apps (Strava, Nike Run Club, Habitica) target serious athletes or require strong self-discipline; none turn the campus's physical layout itself into a game board.</a:t>
            </a:r>
          </a:p>
          <a:p>
            <a:pPr>
              <a:defRPr lang="en-US" sz="800" dirty="0" typeface="Outfit"/>
            </a:pPr>
            <a:r>
              <a:rPr lang="en-US" sz="800" dirty="0" typeface="Outfit"/>
              <a:t xml:space="preserve"/>
            </a:r>
          </a:p>
          <a:p>
            <a:pPr>
              <a:defRPr lang="en-US" sz="2000" dirty="0" typeface="Outfit" b="1">
                <a:solidFill>
                  <a:srgbClr val="2E7D32"/>
                </a:solidFill>
              </a:defRPr>
            </a:pPr>
            <a:r>
              <a:rPr lang="en-US" sz="2000" dirty="0" typeface="Outfit" b="1">
                <a:solidFill>
                  <a:srgbClr val="2E7D32"/>
                </a:solidFill>
              </a:rPr>
              <a:t xml:space="preserve">Motivation</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Campus wellness surveys indicate students want peer-driven, low-friction ways to stay active between lectures — not another gym membership.</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Gamification (points, badges, leaderboards, clubs) is a proven lever for habit formation, but its success depends on relevance, social presence and visible progress.</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A checkpoint-based campus map turns everyday walking into tangible, shareable achievements with a visible reward economy.</a:t>
            </a:r>
          </a:p>
        </a:txBody>
      </p:sp>
      <p:sp>
        <p:nvSpPr>
          <p:cNvPr id="4" name="Date Placeholder 3">
            <a:extLst>
              <a:ext uri="{FF2B5EF4-FFF2-40B4-BE49-F238E27FC236}">
                <a16:creationId xmlns:a16="http://schemas.microsoft.com/office/drawing/2014/main" id="{8531FEBA-0B27-7CAB-D40C-DDFB5DF5ADB3}"/>
              </a:ext>
            </a:extLst>
          </p:cNvPr>
          <p:cNvSpPr>
            <a:spLocks noGrp="1"/>
          </p:cNvSpPr>
          <p:nvPr>
            <p:ph type="dt" sz="half" idx="10"/>
          </p:nvPr>
        </p:nvSpPr>
        <p:spPr/>
        <p:txBody>
          <a:bodyPr/>
          <a:lstStyle/>
          <a:p>
            <a:pPr fontAlgn="base">
              <a:spcBef>
                <a:spcPct val="0"/>
              </a:spcBef>
              <a:spcAft>
                <a:spcPct val="0"/>
              </a:spcAft>
              <a:defRPr/>
            </a:pPr>
            <a:fld id="{A9287898-D9AE-4049-9D19-ED0B1E1963CA}"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Slide Number Placeholder 4">
            <a:extLst>
              <a:ext uri="{FF2B5EF4-FFF2-40B4-BE49-F238E27FC236}">
                <a16:creationId xmlns:a16="http://schemas.microsoft.com/office/drawing/2014/main" id="{735FE2F2-16C4-3CA6-A52D-9A30616C3AE5}"/>
              </a:ext>
            </a:extLst>
          </p:cNvPr>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3</a:t>
            </a:fld>
            <a:endParaRPr lang="en-US" altLang="en-US">
              <a:ea typeface="MS PGothic" panose="020B0600070205080204" pitchFamily="34" charset="-128"/>
            </a:endParaRPr>
          </a:p>
        </p:txBody>
      </p:sp>
    </p:spTree>
    <p:extLst>
      <p:ext uri="{BB962C8B-B14F-4D97-AF65-F5344CB8AC3E}">
        <p14:creationId xmlns:p14="http://schemas.microsoft.com/office/powerpoint/2010/main" val="18961159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B2738-68AC-4D51-568D-D524A0A661F8}"/>
              </a:ext>
            </a:extLst>
          </p:cNvPr>
          <p:cNvSpPr>
            <a:spLocks noGrp="1"/>
          </p:cNvSpPr>
          <p:nvPr>
            <p:ph type="title"/>
          </p:nvPr>
        </p:nvSpPr>
        <p:spPr/>
        <p:txBody>
          <a:bodyPr/>
          <a:lstStyle/>
          <a:p>
            <a:r>
              <a:rPr lang="en-GB" sz="4400" b="1" dirty="0">
                <a:solidFill>
                  <a:schemeClr val="bg2"/>
                </a:solidFill>
                <a:latin typeface="Times New Roman" panose="02020603050405020304" pitchFamily="18" charset="0"/>
                <a:cs typeface="Times New Roman" panose="02020603050405020304" pitchFamily="18" charset="0"/>
              </a:rPr>
              <a:t>Aims and Objectives</a:t>
            </a:r>
            <a:endParaRPr lang="en-US" dirty="0">
              <a:solidFill>
                <a:schemeClr val="bg2"/>
              </a:solidFill>
            </a:endParaRPr>
          </a:p>
        </p:txBody>
        <a:txBody>
          <a:bodyPr/>
          <a:lstStyle/>
          <a:p>
            <a:pPr>
              <a:defRPr lang="en-US" sz="3600" dirty="0" typeface="Outfit" b="1">
                <a:solidFill>
                  <a:srgbClr val="1A1A1A"/>
                </a:solidFill>
              </a:defRPr>
            </a:pPr>
            <a:r>
              <a:rPr lang="en-US" sz="3600" dirty="0" typeface="Outfit" b="1">
                <a:solidFill>
                  <a:srgbClr val="1A1A1A"/>
                </a:solidFill>
              </a:rPr>
              <a:t xml:space="preserve">Research Aim, Questions and Objectives</a:t>
            </a:r>
          </a:p>
        </a:txBody>
      </p:sp>
      <p:sp>
        <p:nvSpPr>
          <p:cNvPr id="3" name="Content Placeholder 2">
            <a:extLst>
              <a:ext uri="{FF2B5EF4-FFF2-40B4-BE49-F238E27FC236}">
                <a16:creationId xmlns:a16="http://schemas.microsoft.com/office/drawing/2014/main" id="{6DEFCC0B-C1AE-0B6A-2192-DD51A8EE47B9}"/>
              </a:ext>
            </a:extLst>
          </p:cNvPr>
          <p:cNvSpPr>
            <a:spLocks noGrp="1"/>
          </p:cNvSpPr>
          <p:nvPr>
            <p:ph idx="1"/>
          </p:nvPr>
        </p:nvSpPr>
        <p:spPr>
          <a:xfrm>
            <a:off x="116958" y="1617134"/>
            <a:ext cx="11855302" cy="4847461"/>
          </a:xfrm>
        </p:spPr>
        <p:txBody>
          <a:bodyPr/>
          <a:lstStyle/>
          <a:p>
            <a:pPr algn="just"/>
            <a:endParaRPr lang="en-US" altLang="zh-CN" sz="3200" dirty="0">
              <a:latin typeface="Times New Roman" panose="02020603050405020304" pitchFamily="18" charset="0"/>
              <a:cs typeface="Times New Roman" panose="02020603050405020304" pitchFamily="18" charset="0"/>
              <a:sym typeface="+mn-ea"/>
            </a:endParaRPr>
          </a:p>
          <a:p>
            <a:pPr algn="just"/>
            <a:endParaRPr lang="en-US" altLang="zh-CN" sz="3200" dirty="0">
              <a:latin typeface="Times New Roman" panose="02020603050405020304" pitchFamily="18" charset="0"/>
              <a:cs typeface="Times New Roman" panose="02020603050405020304" pitchFamily="18" charset="0"/>
              <a:sym typeface="+mn-ea"/>
            </a:endParaRPr>
          </a:p>
          <a:p>
            <a:pPr algn="just"/>
            <a:endParaRPr lang="en-US" dirty="0"/>
          </a:p>
        </p:txBody>
        <a:txBody>
          <a:bodyPr/>
          <a:lstStyle/>
          <a:p>
            <a:pPr>
              <a:defRPr lang="en-US" sz="2000" dirty="0" typeface="Outfit" b="1">
                <a:solidFill>
                  <a:srgbClr val="2E7D32"/>
                </a:solidFill>
              </a:defRPr>
            </a:pPr>
            <a:r>
              <a:rPr lang="en-US" sz="2000" dirty="0" typeface="Outfit" b="1">
                <a:solidFill>
                  <a:srgbClr val="2E7D32"/>
                </a:solidFill>
              </a:rPr>
              <a:t xml:space="preserve">Aim</a:t>
            </a:r>
          </a:p>
          <a:p>
            <a:pPr>
              <a:defRPr lang="en-US" sz="1400" dirty="0" typeface="Outfit">
                <a:solidFill>
                  <a:srgbClr val="333333"/>
                </a:solidFill>
              </a:defRPr>
            </a:pPr>
            <a:r>
              <a:rPr lang="en-US" sz="1400" dirty="0" typeface="Outfit">
                <a:solidFill>
                  <a:srgbClr val="333333"/>
                </a:solidFill>
              </a:rPr>
              <a:t xml:space="preserve">To design, develop and evaluate a gamified, checkpoint-based mobile fitness application that promotes sustained physical activity among university students by turning the campus environment into a participatory game board.</a:t>
            </a:r>
          </a:p>
          <a:p>
            <a:pPr>
              <a:defRPr lang="en-US" sz="800" dirty="0" typeface="Outfit"/>
            </a:pPr>
            <a:r>
              <a:rPr lang="en-US" sz="800" dirty="0" typeface="Outfit"/>
              <a:t xml:space="preserve"/>
            </a:r>
          </a:p>
          <a:p>
            <a:pPr>
              <a:defRPr lang="en-US" sz="2000" dirty="0" typeface="Outfit" b="1">
                <a:solidFill>
                  <a:srgbClr val="2E7D32"/>
                </a:solidFill>
              </a:defRPr>
            </a:pPr>
            <a:r>
              <a:rPr lang="en-US" sz="2000" dirty="0" typeface="Outfit" b="1">
                <a:solidFill>
                  <a:srgbClr val="2E7D32"/>
                </a:solidFill>
              </a:rPr>
              <a:t xml:space="preserve">Research Questions</a:t>
            </a:r>
          </a:p>
          <a:p>
            <a:pPr marL="342900" indent="-342900">
              <a:buFont typeface="Arial"/>
              <a:buAutoNum type="arabicPeriod"/>
              <a:defRPr lang="en-US" sz="1400" typeface="Outfit" dirty="0">
                <a:solidFill>
                  <a:srgbClr val="1A1A1A"/>
                </a:solidFill>
              </a:defRPr>
            </a:pPr>
            <a:r>
              <a:rPr lang="en-US" sz="1400" typeface="Outfit" dirty="0">
                <a:solidFill>
                  <a:srgbClr val="1A1A1A"/>
                </a:solidFill>
              </a:rPr>
            </a:r>
            <a:r>
              <a:rPr lang="en-US" sz="1400" typeface="Arial" color="1A1A1A"/>
              <a:t xml:space="preserve">1. </a:t>
            </a:r>
            <a:r>
              <a:rPr lang="en-US" sz="1400" typeface="Outfit" dirty="0">
                <a:solidFill>
                  <a:srgbClr val="1A1A1A"/>
                </a:solidFill>
              </a:rPr>
              <a:t xml:space="preserve">Can a checkpoint-scanning loop increase weekly active minutes for students who install the app, compared to their baseline?</a:t>
            </a:r>
          </a:p>
          <a:p>
            <a:pPr marL="342900" indent="-342900">
              <a:buFont typeface="Arial"/>
              <a:buAutoNum type="arabicPeriod"/>
              <a:defRPr lang="en-US" sz="1400" typeface="Outfit" dirty="0">
                <a:solidFill>
                  <a:srgbClr val="1A1A1A"/>
                </a:solidFill>
              </a:defRPr>
            </a:pPr>
            <a:r>
              <a:rPr lang="en-US" sz="1400" typeface="Outfit" dirty="0">
                <a:solidFill>
                  <a:srgbClr val="1A1A1A"/>
                </a:solidFill>
              </a:rPr>
            </a:r>
            <a:r>
              <a:rPr lang="en-US" sz="1400" typeface="Arial" color="1A1A1A"/>
              <a:t xml:space="preserve">2. </a:t>
            </a:r>
            <a:r>
              <a:rPr lang="en-US" sz="1400" typeface="Outfit" dirty="0">
                <a:solidFill>
                  <a:srgbClr val="1A1A1A"/>
                </a:solidFill>
              </a:rPr>
              <a:t xml:space="preserve">Which gamification elements — badges, points, club competition, streaks — drive the strongest sustained engagement (retention beyond 14 days)?</a:t>
            </a:r>
          </a:p>
          <a:p>
            <a:pPr marL="342900" indent="-342900">
              <a:buFont typeface="Arial"/>
              <a:buAutoNum type="arabicPeriod"/>
              <a:defRPr lang="en-US" sz="1400" typeface="Outfit" dirty="0">
                <a:solidFill>
                  <a:srgbClr val="1A1A1A"/>
                </a:solidFill>
              </a:defRPr>
            </a:pPr>
            <a:r>
              <a:rPr lang="en-US" sz="1400" typeface="Outfit" dirty="0">
                <a:solidFill>
                  <a:srgbClr val="1A1A1A"/>
                </a:solidFill>
              </a:rPr>
            </a:r>
            <a:r>
              <a:rPr lang="en-US" sz="1400" typeface="Arial" color="1A1A1A"/>
              <a:t xml:space="preserve">3. </a:t>
            </a:r>
            <a:r>
              <a:rPr lang="en-US" sz="1400" typeface="Outfit" dirty="0">
                <a:solidFill>
                  <a:srgbClr val="1A1A1A"/>
                </a:solidFill>
              </a:rPr>
              <a:t xml:space="preserve">Does the reward economy (points × difficulty multiplier × streak bonus) produce a balanced distribution of activity, or concentrate participation among early adopters?</a:t>
            </a:r>
          </a:p>
          <a:p>
            <a:pPr marL="342900" indent="-342900">
              <a:buFont typeface="Arial"/>
              <a:buAutoNum type="arabicPeriod"/>
              <a:defRPr lang="en-US" sz="1400" typeface="Outfit" dirty="0">
                <a:solidFill>
                  <a:srgbClr val="1A1A1A"/>
                </a:solidFill>
              </a:defRPr>
            </a:pPr>
            <a:r>
              <a:rPr lang="en-US" sz="1400" typeface="Outfit" dirty="0">
                <a:solidFill>
                  <a:srgbClr val="1A1A1A"/>
                </a:solidFill>
              </a:rPr>
            </a:r>
            <a:r>
              <a:rPr lang="en-US" sz="1400" typeface="Arial" color="1A1A1A"/>
              <a:t xml:space="preserve">4. </a:t>
            </a:r>
            <a:r>
              <a:rPr lang="en-US" sz="1400" typeface="Outfit" dirty="0">
                <a:solidFill>
                  <a:srgbClr val="1A1A1A"/>
                </a:solidFill>
              </a:rPr>
              <a:t xml:space="preserve">How does the Progressive Web App (PWA) approach compare to a native app in install friction, offline resilience and device coverage in a low-connectivity campus environment?</a:t>
            </a:r>
          </a:p>
          <a:p>
            <a:pPr>
              <a:defRPr lang="en-US" sz="800" dirty="0" typeface="Outfit"/>
            </a:pPr>
            <a:r>
              <a:rPr lang="en-US" sz="800" dirty="0" typeface="Outfit"/>
              <a:t xml:space="preserve"/>
            </a:r>
          </a:p>
          <a:p>
            <a:pPr>
              <a:defRPr lang="en-US" sz="2000" dirty="0" typeface="Outfit" b="1">
                <a:solidFill>
                  <a:srgbClr val="2E7D32"/>
                </a:solidFill>
              </a:defRPr>
            </a:pPr>
            <a:r>
              <a:rPr lang="en-US" sz="2000" dirty="0" typeface="Outfit" b="1">
                <a:solidFill>
                  <a:srgbClr val="2E7D32"/>
                </a:solidFill>
              </a:rPr>
              <a:t xml:space="preserve">Objectives</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Design the game mechanics and reward economy grounded in Self-Determination Theory.</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Build a cross-platform PWA with QR-code checkpoint scanning, clubs, leaderboards and a badge shelf.</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Implement a Supabase backend with row-level security, real-time leaderboards and a demo mode for offline evaluation.</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Evaluate the system with a usability study and a reward-economy analysis using demo data and early user feedback.</a:t>
            </a:r>
          </a:p>
        </a:txBody>
      </p:sp>
      <p:sp>
        <p:nvSpPr>
          <p:cNvPr id="4" name="Date Placeholder 3">
            <a:extLst>
              <a:ext uri="{FF2B5EF4-FFF2-40B4-BE49-F238E27FC236}">
                <a16:creationId xmlns:a16="http://schemas.microsoft.com/office/drawing/2014/main" id="{1B823B23-738E-64E3-FFD2-6DC756DE6D84}"/>
              </a:ext>
            </a:extLst>
          </p:cNvPr>
          <p:cNvSpPr>
            <a:spLocks noGrp="1"/>
          </p:cNvSpPr>
          <p:nvPr>
            <p:ph type="dt" sz="half" idx="10"/>
          </p:nvPr>
        </p:nvSpPr>
        <p:spPr/>
        <p:txBody>
          <a:bodyPr/>
          <a:lstStyle/>
          <a:p>
            <a:pPr fontAlgn="base">
              <a:spcBef>
                <a:spcPct val="0"/>
              </a:spcBef>
              <a:spcAft>
                <a:spcPct val="0"/>
              </a:spcAft>
              <a:defRPr/>
            </a:pPr>
            <a:fld id="{A9287898-D9AE-4049-9D19-ED0B1E1963CA}"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Slide Number Placeholder 4">
            <a:extLst>
              <a:ext uri="{FF2B5EF4-FFF2-40B4-BE49-F238E27FC236}">
                <a16:creationId xmlns:a16="http://schemas.microsoft.com/office/drawing/2014/main" id="{A12BA517-DF9E-BB84-BEC3-8B2D35D700A7}"/>
              </a:ext>
            </a:extLst>
          </p:cNvPr>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4</a:t>
            </a:fld>
            <a:endParaRPr lang="en-US" altLang="en-US">
              <a:ea typeface="MS PGothic" panose="020B0600070205080204" pitchFamily="34" charset="-128"/>
            </a:endParaRPr>
          </a:p>
        </p:txBody>
      </p:sp>
    </p:spTree>
    <p:extLst>
      <p:ext uri="{BB962C8B-B14F-4D97-AF65-F5344CB8AC3E}">
        <p14:creationId xmlns:p14="http://schemas.microsoft.com/office/powerpoint/2010/main" val="23017769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35A31B-99F0-32CD-42FA-EA92C81A3224}"/>
              </a:ext>
            </a:extLst>
          </p:cNvPr>
          <p:cNvSpPr>
            <a:spLocks noGrp="1"/>
          </p:cNvSpPr>
          <p:nvPr>
            <p:ph type="title"/>
          </p:nvPr>
        </p:nvSpPr>
        <p:spPr/>
        <p:txBody>
          <a:bodyPr/>
          <a:lstStyle/>
          <a:p>
            <a:r>
              <a:rPr lang="en-GB" b="1" dirty="0">
                <a:solidFill>
                  <a:schemeClr val="bg2"/>
                </a:solidFill>
                <a:latin typeface="Times New Roman" panose="02020603050405020304" pitchFamily="18" charset="0"/>
                <a:cs typeface="Times New Roman" panose="02020603050405020304" pitchFamily="18" charset="0"/>
              </a:rPr>
              <a:t>Related Work</a:t>
            </a:r>
            <a:endParaRPr lang="en-US" dirty="0"/>
          </a:p>
        </p:txBody>
        <a:txBody>
          <a:bodyPr/>
          <a:lstStyle/>
          <a:p>
            <a:pPr>
              <a:defRPr lang="en-US" sz="3600" dirty="0" typeface="Outfit" b="1">
                <a:solidFill>
                  <a:srgbClr val="1A1A1A"/>
                </a:solidFill>
              </a:defRPr>
            </a:pPr>
            <a:r>
              <a:rPr lang="en-US" sz="3600" dirty="0" typeface="Outfit" b="1">
                <a:solidFill>
                  <a:srgbClr val="1A1A1A"/>
                </a:solidFill>
              </a:rPr>
              <a:t xml:space="preserve">Literature and Theoretical Framework</a:t>
            </a:r>
          </a:p>
        </a:txBody>
      </p:sp>
      <p:sp>
        <p:nvSpPr>
          <p:cNvPr id="3" name="Content Placeholder 2">
            <a:extLst>
              <a:ext uri="{FF2B5EF4-FFF2-40B4-BE49-F238E27FC236}">
                <a16:creationId xmlns:a16="http://schemas.microsoft.com/office/drawing/2014/main" id="{9DF2A7B9-9577-A5DF-84DE-6D64DB05A797}"/>
              </a:ext>
            </a:extLst>
          </p:cNvPr>
          <p:cNvSpPr>
            <a:spLocks noGrp="1"/>
          </p:cNvSpPr>
          <p:nvPr>
            <p:ph idx="1"/>
          </p:nvPr>
        </p:nvSpPr>
        <p:spPr>
          <a:xfrm>
            <a:off x="127591" y="1600201"/>
            <a:ext cx="11876567" cy="4525963"/>
          </a:xfrm>
        </p:spPr>
        <p:txBody>
          <a:bodyPr/>
          <a:lstStyle/>
          <a:p>
            <a:pPr algn="just"/>
            <a:endParaRPr lang="en-US" sz="2400" dirty="0">
              <a:latin typeface="Times New Roman" panose="02020603050405020304" pitchFamily="18" charset="0"/>
              <a:cs typeface="Times New Roman" panose="02020603050405020304" pitchFamily="18" charset="0"/>
            </a:endParaRPr>
          </a:p>
        </p:txBody>
        <a:txBody>
          <a:bodyPr/>
          <a:lstStyle/>
          <a:p>
            <a:pPr>
              <a:defRPr lang="en-US" sz="1800" dirty="0" typeface="Outfit" b="1">
                <a:solidFill>
                  <a:srgbClr val="2E7D32"/>
                </a:solidFill>
              </a:defRPr>
            </a:pPr>
            <a:r>
              <a:rPr lang="en-US" sz="1800" dirty="0" typeface="Outfit" b="1">
                <a:solidFill>
                  <a:srgbClr val="2E7D32"/>
                </a:solidFill>
              </a:rPr>
              <a:t xml:space="preserve">Theoretical Framework — Self-Determination Theory (SDT)</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SDT (Deci &amp; Ryan, 2000) identifies three intrinsic motivators — autonomy, competence and relatedness — the lens through which CampusFit's mechanics are designed.</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Autonomy: users choose which routes to walk, which clubs to join, which challenges to start — no forced compliance paths.</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Competence: checkpoint base points × difficulty multiplier gives visible, escalating progress; badges mark milestones (first scan, 7-day streak, 2500 points).</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Relatedness: clubs, crew leaderboards and a vertical FitClips feed provide social presence without live-chat pressure.</a:t>
            </a:r>
          </a:p>
          <a:p>
            <a:pPr>
              <a:defRPr lang="en-US" sz="800" dirty="0" typeface="Outfit"/>
            </a:pPr>
            <a:r>
              <a:rPr lang="en-US" sz="800" dirty="0" typeface="Outfit"/>
              <a:t xml:space="preserve"/>
            </a:r>
          </a:p>
          <a:p>
            <a:pPr>
              <a:defRPr lang="en-US" sz="1800" dirty="0" typeface="Outfit" b="1">
                <a:solidFill>
                  <a:srgbClr val="2E7D32"/>
                </a:solidFill>
              </a:defRPr>
            </a:pPr>
            <a:r>
              <a:rPr lang="en-US" sz="1800" dirty="0" typeface="Outfit" b="1">
                <a:solidFill>
                  <a:srgbClr val="2E7D32"/>
                </a:solidFill>
              </a:rPr>
              <a:t xml:space="preserve">Related Work</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Habitica (2013): gamified task manager with RPG avatars and party quests — strong social accountability, but not location-aware. CampusFit borrows the party/club model but grounds it in physical campus space.</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Strava (2009): segment-based competition for cyclists and runners — excellent at making routes social, but designed for serious athletes and GPS-tracked workouts, not casual campus walking.</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Nike Run Club / Adidas Running: guided runs and coaching — good for motivation, but focused on running performance rather than habitual low-intensity activity.</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Pokémon GO (2016): location-based AR gamification that demonstrably increased walking — the most direct precedent for turning a real map into a game board, but built as a native app with heavy location/privacy requirements. CampusFit explores a lighter, scan-based analogue that works offline as a PWA.</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Zamzee / Sweatcoin: movement-to-reward conversion — relevant to the reward-economy design; CampusFit's checkpoint model differs by being verifiable (QR scan at a known location) rather than accelerometer-based, reducing fraud.</a:t>
            </a:r>
          </a:p>
          <a:p>
            <a:pPr>
              <a:defRPr lang="en-US" sz="800" dirty="0" typeface="Outfit"/>
            </a:pPr>
            <a:r>
              <a:rPr lang="en-US" sz="800" dirty="0" typeface="Outfit"/>
              <a:t xml:space="preserve"/>
            </a:r>
          </a:p>
          <a:p>
            <a:pPr>
              <a:defRPr lang="en-US" sz="1400" dirty="0" typeface="Outfit" b="1">
                <a:solidFill>
                  <a:srgbClr val="555555"/>
                </a:solidFill>
              </a:defRPr>
            </a:pPr>
            <a:r>
              <a:rPr lang="en-US" sz="1400" dirty="0" typeface="Outfit" b="1">
                <a:solidFill>
                  <a:srgbClr val="555555"/>
                </a:solidFill>
              </a:rPr>
              <a:t xml:space="preserve">Gap CampusFit addresses</a:t>
            </a:r>
          </a:p>
          <a:p>
            <a:pPr>
              <a:defRPr lang="en-US" sz="1400" dirty="0" typeface="Outfit" i="1">
                <a:solidFill>
                  <a:srgbClr val="555555"/>
                </a:solidFill>
              </a:defRPr>
            </a:pPr>
            <a:r>
              <a:rPr lang="en-US" sz="1400" dirty="0" typeface="Outfit" i="1">
                <a:solidFill>
                  <a:srgbClr val="555555"/>
                </a:solidFill>
              </a:rPr>
              <a:t xml:space="preserve">No existing campus-friendly PWA combines verifiable checkpoint scanning, clubs and crews, a visible reward economy and offline-first installability into a single lightweight app.</a:t>
            </a:r>
          </a:p>
        </a:txBody>
      </p:sp>
      <p:sp>
        <p:nvSpPr>
          <p:cNvPr id="4" name="Date Placeholder 3">
            <a:extLst>
              <a:ext uri="{FF2B5EF4-FFF2-40B4-BE49-F238E27FC236}">
                <a16:creationId xmlns:a16="http://schemas.microsoft.com/office/drawing/2014/main" id="{5CAA1B5D-12F2-D542-90C1-8F260A0B4D48}"/>
              </a:ext>
            </a:extLst>
          </p:cNvPr>
          <p:cNvSpPr>
            <a:spLocks noGrp="1"/>
          </p:cNvSpPr>
          <p:nvPr>
            <p:ph type="dt" sz="half" idx="10"/>
          </p:nvPr>
        </p:nvSpPr>
        <p:spPr/>
        <p:txBody>
          <a:bodyPr/>
          <a:lstStyle/>
          <a:p>
            <a:pPr fontAlgn="base">
              <a:spcBef>
                <a:spcPct val="0"/>
              </a:spcBef>
              <a:spcAft>
                <a:spcPct val="0"/>
              </a:spcAft>
              <a:defRPr/>
            </a:pPr>
            <a:fld id="{A9287898-D9AE-4049-9D19-ED0B1E1963CA}"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Slide Number Placeholder 4">
            <a:extLst>
              <a:ext uri="{FF2B5EF4-FFF2-40B4-BE49-F238E27FC236}">
                <a16:creationId xmlns:a16="http://schemas.microsoft.com/office/drawing/2014/main" id="{5868BA78-6230-9A49-69A7-B22EB73C48CC}"/>
              </a:ext>
            </a:extLst>
          </p:cNvPr>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5</a:t>
            </a:fld>
            <a:endParaRPr lang="en-US" altLang="en-US">
              <a:ea typeface="MS PGothic" panose="020B0600070205080204" pitchFamily="34" charset="-128"/>
            </a:endParaRPr>
          </a:p>
        </p:txBody>
      </p:sp>
    </p:spTree>
    <p:extLst>
      <p:ext uri="{BB962C8B-B14F-4D97-AF65-F5344CB8AC3E}">
        <p14:creationId xmlns:p14="http://schemas.microsoft.com/office/powerpoint/2010/main" val="14363515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506D3C-4B4F-4105-A2CA-8CCC647D3BA1}"/>
              </a:ext>
            </a:extLst>
          </p:cNvPr>
          <p:cNvSpPr>
            <a:spLocks noGrp="1"/>
          </p:cNvSpPr>
          <p:nvPr>
            <p:ph type="title"/>
          </p:nvPr>
        </p:nvSpPr>
        <p:spPr/>
        <p:txBody>
          <a:bodyPr/>
          <a:lstStyle/>
          <a:p>
            <a:r>
              <a:rPr lang="en-GB" sz="4400" b="1" dirty="0">
                <a:solidFill>
                  <a:schemeClr val="bg2"/>
                </a:solidFill>
                <a:latin typeface="Times New Roman" panose="02020603050405020304" pitchFamily="18" charset="0"/>
                <a:cs typeface="Times New Roman" panose="02020603050405020304" pitchFamily="18" charset="0"/>
              </a:rPr>
              <a:t>Proposed Solution</a:t>
            </a:r>
            <a:endParaRPr lang="en-US" dirty="0">
              <a:solidFill>
                <a:schemeClr val="bg2"/>
              </a:solidFill>
            </a:endParaRPr>
          </a:p>
        </p:txBody>
        <a:txBody>
          <a:bodyPr/>
          <a:lstStyle/>
          <a:p>
            <a:pPr>
              <a:defRPr lang="en-US" sz="3600" dirty="0" typeface="Outfit" b="1">
                <a:solidFill>
                  <a:srgbClr val="1A1A1A"/>
                </a:solidFill>
              </a:defRPr>
            </a:pPr>
            <a:r>
              <a:rPr lang="en-US" sz="3600" dirty="0" typeface="Outfit" b="1">
                <a:solidFill>
                  <a:srgbClr val="1A1A1A"/>
                </a:solidFill>
              </a:rPr>
              <a:t xml:space="preserve">Methodology and Design</a:t>
            </a:r>
          </a:p>
        </a:txBody>
      </p:sp>
      <p:sp>
        <p:nvSpPr>
          <p:cNvPr id="3" name="Content Placeholder 2">
            <a:extLst>
              <a:ext uri="{FF2B5EF4-FFF2-40B4-BE49-F238E27FC236}">
                <a16:creationId xmlns:a16="http://schemas.microsoft.com/office/drawing/2014/main" id="{B9B6B7A8-65F2-E73A-00E9-945683A8A1BD}"/>
              </a:ext>
            </a:extLst>
          </p:cNvPr>
          <p:cNvSpPr>
            <a:spLocks noGrp="1"/>
          </p:cNvSpPr>
          <p:nvPr>
            <p:ph idx="1"/>
          </p:nvPr>
        </p:nvSpPr>
        <p:spPr/>
        <p:txBody>
          <a:bodyPr/>
          <a:lstStyle/>
          <a:p>
            <a:endParaRPr lang="en-US" sz="3200" kern="100" dirty="0">
              <a:effectLst/>
              <a:latin typeface="Times New Roman" panose="02020603050405020304" pitchFamily="18" charset="0"/>
              <a:ea typeface="Aptos" panose="020B0004020202020204" pitchFamily="34" charset="0"/>
              <a:cs typeface="Times New Roman" panose="02020603050405020304" pitchFamily="18" charset="0"/>
            </a:endParaRPr>
          </a:p>
          <a:p>
            <a:endParaRPr lang="en-US" kern="100" dirty="0">
              <a:latin typeface="Times New Roman" panose="02020603050405020304" pitchFamily="18" charset="0"/>
              <a:ea typeface="Aptos" panose="020B0004020202020204" pitchFamily="34" charset="0"/>
              <a:cs typeface="Times New Roman" panose="02020603050405020304" pitchFamily="18" charset="0"/>
            </a:endParaRPr>
          </a:p>
        </p:txBody>
        <a:txBody>
          <a:bodyPr/>
          <a:lstStyle/>
          <a:p>
            <a:pPr>
              <a:defRPr lang="en-US" sz="1800" dirty="0" typeface="Outfit" b="1">
                <a:solidFill>
                  <a:srgbClr val="2E7D32"/>
                </a:solidFill>
              </a:defRPr>
            </a:pPr>
            <a:r>
              <a:rPr lang="en-US" sz="1800" dirty="0" typeface="Outfit" b="1">
                <a:solidFill>
                  <a:srgbClr val="2E7D32"/>
                </a:solidFill>
              </a:rPr>
              <a:t xml:space="preserve">Research Methodology</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Design science research (Hevner et al., 2004): build a functional artefact (the PWA) and evaluate it against defined metrics — not merely a literature review.</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Agile development with two-week iteration cycles; the artefact was built in TypeScript + React, using Tailwind CSS for the design system and Vite for bundling.</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Evaluation approach: (a) functional verification of all routes, scan loop and reward calculations; (b) usability walkthrough with a small student panel; (c) reward-economy analysis from demo data and seeded user profiles.</a:t>
            </a:r>
          </a:p>
          <a:p>
            <a:pPr>
              <a:defRPr lang="en-US" sz="800" dirty="0" typeface="Outfit"/>
            </a:pPr>
            <a:r>
              <a:rPr lang="en-US" sz="800" dirty="0" typeface="Outfit"/>
              <a:t xml:space="preserve"/>
            </a:r>
          </a:p>
          <a:p>
            <a:pPr>
              <a:defRPr lang="en-US" sz="1800" dirty="0" typeface="Outfit" b="1">
                <a:solidFill>
                  <a:srgbClr val="2E7D32"/>
                </a:solidFill>
              </a:defRPr>
            </a:pPr>
            <a:r>
              <a:rPr lang="en-US" sz="1800" dirty="0" typeface="Outfit" b="1">
                <a:solidFill>
                  <a:srgbClr val="2E7D32"/>
                </a:solidFill>
              </a:rPr>
              <a:t xml:space="preserve">Design System</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Warm cream surface (#FFF8EC family) with mint green primary (#2E7D32 family) — approachable, campus-natural tones chosen to avoid the aggressive neon of many fitness apps.</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Outfit type family for display/headlines; readable label/body scale for stats and captions — 20px cards, consistent spacing tokens (xs / sm / md / lg / xl).</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Component tokens: rounded-xl / rounded-2xl cards, soft borders, elevation via shadow-card / shadow-card-lg, tactile active:scale feedback on every interactive element.</a:t>
            </a:r>
          </a:p>
          <a:p>
            <a:pPr>
              <a:defRPr lang="en-US" sz="800" dirty="0" typeface="Outfit"/>
            </a:pPr>
            <a:r>
              <a:rPr lang="en-US" sz="800" dirty="0" typeface="Outfit"/>
              <a:t xml:space="preserve"/>
            </a:r>
          </a:p>
          <a:p>
            <a:pPr>
              <a:defRPr lang="en-US" sz="1800" dirty="0" typeface="Outfit" b="1">
                <a:solidFill>
                  <a:srgbClr val="2E7D32"/>
                </a:solidFill>
              </a:defRPr>
            </a:pPr>
            <a:r>
              <a:rPr lang="en-US" sz="1800" dirty="0" typeface="Outfit" b="1">
                <a:solidFill>
                  <a:srgbClr val="2E7D32"/>
                </a:solidFill>
              </a:rPr>
              <a:t xml:space="preserve">Core Design Decisions</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Progressive Web App (not native): one link to install, works offline once cached, no app-store review gate — chosen specifically for low-friction campus adoption.</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QR-code checkpoint scanning (not GPS): verifiable, low battery cost, works indoors and under tree cover — a scan at a physical sign is the proof of presence.</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Clubs and crews over open global leaderboard: keeps competition socially bounded and relevant to the campus community.</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Demo mode: the app runs entirely from bundled demo data when Supabase is not configured, so the artefact is presentable and testable before the database exists.</a:t>
            </a:r>
          </a:p>
        </a:txBody>
      </p:sp>
      <p:sp>
        <p:nvSpPr>
          <p:cNvPr id="4" name="Date Placeholder 3">
            <a:extLst>
              <a:ext uri="{FF2B5EF4-FFF2-40B4-BE49-F238E27FC236}">
                <a16:creationId xmlns:a16="http://schemas.microsoft.com/office/drawing/2014/main" id="{01725DB2-1CF4-25AC-98C9-B01040B69618}"/>
              </a:ext>
            </a:extLst>
          </p:cNvPr>
          <p:cNvSpPr>
            <a:spLocks noGrp="1"/>
          </p:cNvSpPr>
          <p:nvPr>
            <p:ph type="dt" sz="half" idx="10"/>
          </p:nvPr>
        </p:nvSpPr>
        <p:spPr/>
        <p:txBody>
          <a:bodyPr/>
          <a:lstStyle/>
          <a:p>
            <a:pPr fontAlgn="base">
              <a:spcBef>
                <a:spcPct val="0"/>
              </a:spcBef>
              <a:spcAft>
                <a:spcPct val="0"/>
              </a:spcAft>
              <a:defRPr/>
            </a:pPr>
            <a:fld id="{A9287898-D9AE-4049-9D19-ED0B1E1963CA}"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Slide Number Placeholder 4">
            <a:extLst>
              <a:ext uri="{FF2B5EF4-FFF2-40B4-BE49-F238E27FC236}">
                <a16:creationId xmlns:a16="http://schemas.microsoft.com/office/drawing/2014/main" id="{3890411F-B638-EC08-5169-AE580B8FB891}"/>
              </a:ext>
            </a:extLst>
          </p:cNvPr>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6</a:t>
            </a:fld>
            <a:endParaRPr lang="en-US" altLang="en-US">
              <a:ea typeface="MS PGothic" panose="020B0600070205080204" pitchFamily="34" charset="-128"/>
            </a:endParaRPr>
          </a:p>
        </p:txBody>
      </p:sp>
      <p:sp>
        <p:nvSpPr>
          <p:cNvPr id="7" name="Rectangle 1">
            <a:extLst>
              <a:ext uri="{FF2B5EF4-FFF2-40B4-BE49-F238E27FC236}">
                <a16:creationId xmlns:a16="http://schemas.microsoft.com/office/drawing/2014/main" id="{51A869A9-1EC7-F343-073E-F51243E5FC8F}"/>
              </a:ext>
            </a:extLst>
          </p:cNvPr>
          <p:cNvSpPr>
            <a:spLocks noChangeArrowheads="1"/>
          </p:cNvSpPr>
          <p:nvPr/>
        </p:nvSpPr>
        <p:spPr bwMode="auto">
          <a:xfrm>
            <a:off x="3127375" y="2263775"/>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Tree>
    <p:extLst>
      <p:ext uri="{BB962C8B-B14F-4D97-AF65-F5344CB8AC3E}">
        <p14:creationId xmlns:p14="http://schemas.microsoft.com/office/powerpoint/2010/main" val="39854477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932FC4-DD23-1994-05AD-6A8BE81F5CEF}"/>
              </a:ext>
            </a:extLst>
          </p:cNvPr>
          <p:cNvSpPr>
            <a:spLocks noGrp="1"/>
          </p:cNvSpPr>
          <p:nvPr>
            <p:ph type="title"/>
          </p:nvPr>
        </p:nvSpPr>
        <p:spPr/>
        <p:txBody>
          <a:bodyPr/>
          <a:lstStyle/>
          <a:p>
            <a:r>
              <a:rPr lang="en-US" b="1" dirty="0">
                <a:solidFill>
                  <a:schemeClr val="bg2"/>
                </a:solidFill>
                <a:latin typeface="Times New Roman" panose="02020603050405020304" pitchFamily="18" charset="0"/>
                <a:cs typeface="Times New Roman" panose="02020603050405020304" pitchFamily="18" charset="0"/>
              </a:rPr>
              <a:t>End Slide</a:t>
            </a:r>
            <a:endParaRPr lang="en-US" dirty="0"/>
          </a:p>
        </p:txBody>
        <a:txBody>
          <a:bodyPr/>
          <a:lstStyle/>
          <a:p>
            <a:pPr>
              <a:defRPr lang="en-US" sz="3600" dirty="0" typeface="Outfit" b="1">
                <a:solidFill>
                  <a:srgbClr val="1A1A1A"/>
                </a:solidFill>
              </a:defRPr>
            </a:pPr>
            <a:r>
              <a:rPr lang="en-US" sz="3600" dirty="0" typeface="Outfit" b="1">
                <a:solidFill>
                  <a:srgbClr val="1A1A1A"/>
                </a:solidFill>
              </a:rPr>
              <a:t xml:space="preserve">System Architecture and Implementation</a:t>
            </a:r>
          </a:p>
        </a:txBody>
      </p:sp>
      <p:sp>
        <p:nvSpPr>
          <p:cNvPr id="4" name="Date Placeholder 3">
            <a:extLst>
              <a:ext uri="{FF2B5EF4-FFF2-40B4-BE49-F238E27FC236}">
                <a16:creationId xmlns:a16="http://schemas.microsoft.com/office/drawing/2014/main" id="{D3F317FC-B0A5-5DF9-D46A-0097F1943542}"/>
              </a:ext>
            </a:extLst>
          </p:cNvPr>
          <p:cNvSpPr>
            <a:spLocks noGrp="1"/>
          </p:cNvSpPr>
          <p:nvPr>
            <p:ph type="dt" sz="half" idx="10"/>
          </p:nvPr>
        </p:nvSpPr>
        <p:spPr/>
        <p:txBody>
          <a:bodyPr/>
          <a:lstStyle/>
          <a:p>
            <a:pPr fontAlgn="base">
              <a:spcBef>
                <a:spcPct val="0"/>
              </a:spcBef>
              <a:spcAft>
                <a:spcPct val="0"/>
              </a:spcAft>
              <a:defRPr/>
            </a:pPr>
            <a:fld id="{A9287898-D9AE-4049-9D19-ED0B1E1963CA}"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Slide Number Placeholder 4">
            <a:extLst>
              <a:ext uri="{FF2B5EF4-FFF2-40B4-BE49-F238E27FC236}">
                <a16:creationId xmlns:a16="http://schemas.microsoft.com/office/drawing/2014/main" id="{E90DD781-364A-0708-0EFC-CA14E446F5D9}"/>
              </a:ext>
            </a:extLst>
          </p:cNvPr>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7</a:t>
            </a:fld>
            <a:endParaRPr lang="en-US" altLang="en-US">
              <a:ea typeface="MS PGothic" panose="020B0600070205080204" pitchFamily="34" charset="-128"/>
            </a:endParaRPr>
          </a:p>
        </p:txBody>
      </p:sp>
      <p:sp>
        <p:nvSpPr>
          <p:cNvPr id="7" name="Rectangle 1">
            <a:extLst>
              <a:ext uri="{FF2B5EF4-FFF2-40B4-BE49-F238E27FC236}">
                <a16:creationId xmlns:a16="http://schemas.microsoft.com/office/drawing/2014/main" id="{8A935C62-7CE4-90E7-86E2-F628BB9B6672}"/>
              </a:ext>
            </a:extLst>
          </p:cNvPr>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Content Placeholder 7">
            <a:extLst>
              <a:ext uri="{FF2B5EF4-FFF2-40B4-BE49-F238E27FC236}">
                <a16:creationId xmlns:a16="http://schemas.microsoft.com/office/drawing/2014/main" id="{23712241-B4F7-567C-CF5D-AA1CE2FB25EE}"/>
              </a:ext>
            </a:extLst>
          </p:cNvPr>
          <p:cNvSpPr>
            <a:spLocks noGrp="1"/>
          </p:cNvSpPr>
          <p:nvPr>
            <p:ph idx="1"/>
          </p:nvPr>
        </p:nvSpPr>
        <p:spPr/>
        <p:txBody>
          <a:bodyPr/>
          <a:lstStyle/>
          <a:p>
            <a:endParaRPr lang="en-US"/>
          </a:p>
        </p:txBody>
        <a:txBody>
          <a:bodyPr/>
          <a:lstStyle/>
          <a:p>
            <a:pPr>
              <a:defRPr lang="en-US" sz="1800" dirty="0" typeface="Outfit" b="1">
                <a:solidFill>
                  <a:srgbClr val="2E7D32"/>
                </a:solidFill>
              </a:defRPr>
            </a:pPr>
            <a:r>
              <a:rPr lang="en-US" sz="1800" dirty="0" typeface="Outfit" b="1">
                <a:solidFill>
                  <a:srgbClr val="2E7D32"/>
                </a:solidFill>
              </a:rPr>
              <a:t xml:space="preserve">Architecture — Three Tiers</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Client (PWA): React 19 + TypeScript + Tailwind CSS, bundled by Vite; service worker precaches the app shell and routes for offline use; 29 screens covering onboarding, dashboard, FitClips, FitTrip explorer, clubs, gamification and admin.</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API layer: a thin client-side service (src/lib/api.ts) abstracts Supabase calls and falls back to bundled demo data; this keeps the UI identical whether or not the database is live — critical for demos and offline evaluation.</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Backend (Supabase): PostgreSQL with row-level security, real-time subscriptions for leaderboard updates, auth (email + password, OTPs, forgotten-password flow), and storage for club/clip images. Service-role key used only for seeding.</a:t>
            </a:r>
          </a:p>
          <a:p>
            <a:pPr>
              <a:defRPr lang="en-US" sz="800" dirty="0" typeface="Outfit"/>
            </a:pPr>
            <a:r>
              <a:rPr lang="en-US" sz="800" dirty="0" typeface="Outfit"/>
              <a:t xml:space="preserve"/>
            </a:r>
          </a:p>
          <a:p>
            <a:pPr>
              <a:defRPr lang="en-US" sz="1800" dirty="0" typeface="Outfit" b="1">
                <a:solidFill>
                  <a:srgbClr val="2E7D32"/>
                </a:solidFill>
              </a:defRPr>
            </a:pPr>
            <a:r>
              <a:rPr lang="en-US" sz="1800" dirty="0" typeface="Outfit" b="1">
                <a:solidFill>
                  <a:srgbClr val="2E7D32"/>
                </a:solidFill>
              </a:rPr>
              <a:t xml:space="preserve">Key Implementation Modules</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Checkpoint scan loop (ScanCheckpoint / CheckpointDetail): user enters a code → code is normalised and matched → points = base_points × difficulty_multiplier → reward panel shows awarded points and total. Epic difficulty gives the highest multiplier.</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Reward economy: points feed the profile, the leaderboard and badge criteria (e.g. points_2500, streak_7). Streaks and club challenges add secondary incentives.</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Clubs (ClubDashboard / ClubDetail): each club has a name, colour, member count, description, challenges and a member list drawn from the same demo dataset used everywhere else.</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FitClips vertical feed (FitClipsFeed / FitClipDetail): social posts with author, caption, likes, comments — same design tokens as the rest of the app.</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Auth flow: Splash → LogIn / CreateAccount → StudentVerification → OTP → OnboardingInterests → Dashboard. Lost-password and edit-profile round out the account lifecycle.</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Admin dashboard (AdminDashboard): visible only to the admin role; surfaces checkpoint list, leaderboard, badge definitions and problem reports for moderation.</a:t>
            </a:r>
          </a:p>
        </a:txBody>
      </p:sp>
    </p:spTree>
    <p:extLst>
      <p:ext uri="{BB962C8B-B14F-4D97-AF65-F5344CB8AC3E}">
        <p14:creationId xmlns:p14="http://schemas.microsoft.com/office/powerpoint/2010/main" val="21562714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Title 1"/>
          <p:cNvSpPr>
            <a:spLocks noGrp="1"/>
          </p:cNvSpPr>
          <p:nvPr>
            <p:ph type="ctrTitle"/>
          </p:nvPr>
        </p:nvSpPr>
        <p:spPr>
          <a:xfrm>
            <a:off x="2209800" y="152399"/>
            <a:ext cx="7772400" cy="889819"/>
          </a:xfrm>
        </p:spPr>
        <p:txBody>
          <a:bodyPr vert="horz" wrap="square" lIns="91440" tIns="45720" rIns="91440" bIns="45720" anchor="ctr" anchorCtr="0"/>
          <a:lstStyle/>
          <a:p>
            <a:pPr eaLnBrk="1" hangingPunct="1"/>
            <a:r>
              <a:rPr lang="en-US" sz="2000" b="1" dirty="0">
                <a:solidFill>
                  <a:schemeClr val="bg1"/>
                </a:solidFill>
                <a:latin typeface="Times New Roman" panose="02020603050405020304" pitchFamily="18" charset="0"/>
                <a:ea typeface="Times New Roman" panose="02020603050405020304" pitchFamily="18" charset="0"/>
              </a:rPr>
              <a:t>FINAL YEAR PROJECT PRESENTATION &amp; DEMO</a:t>
            </a:r>
            <a:br>
              <a:rPr lang="en-GB" sz="2000" b="1" dirty="0">
                <a:solidFill>
                  <a:schemeClr val="bg1"/>
                </a:solidFill>
                <a:latin typeface="Times New Roman" panose="02020603050405020304" pitchFamily="18" charset="0"/>
                <a:ea typeface="Times New Roman" panose="02020603050405020304" pitchFamily="18" charset="0"/>
              </a:rPr>
            </a:br>
            <a:endParaRPr lang="en-US" altLang="en-US" sz="2000" b="1" dirty="0">
              <a:solidFill>
                <a:schemeClr val="bg1"/>
              </a:solidFill>
              <a:latin typeface="Times New Roman" panose="02020603050405020304" pitchFamily="18" charset="0"/>
              <a:ea typeface="Times New Roman" panose="02020603050405020304" pitchFamily="18" charset="0"/>
            </a:endParaRPr>
          </a:p>
        </p:txBody>
        <a:txBody>
          <a:bodyPr/>
          <a:lstStyle/>
          <a:p>
            <a:pPr>
              <a:defRPr lang="en-US" sz="3600" dirty="0" typeface="Outfit" b="1">
                <a:solidFill>
                  <a:srgbClr val="1A1A1A"/>
                </a:solidFill>
              </a:defRPr>
            </a:pPr>
            <a:r>
              <a:rPr lang="en-US" sz="3600" dirty="0" typeface="Outfit" b="1">
                <a:solidFill>
                  <a:srgbClr val="1A1A1A"/>
                </a:solidFill>
              </a:rPr>
              <a:t xml:space="preserve">Evaluation: Verification, Fidelity, Performance, Reward Economy</a:t>
            </a:r>
          </a:p>
        </a:txBody>
      </p:sp>
      <p:sp>
        <p:nvSpPr>
          <p:cNvPr id="3075" name="Subtitle 2"/>
          <p:cNvSpPr>
            <a:spLocks noGrp="1"/>
          </p:cNvSpPr>
          <p:nvPr>
            <p:ph type="subTitle" idx="1"/>
          </p:nvPr>
        </p:nvSpPr>
        <p:spPr>
          <a:xfrm>
            <a:off x="1602658" y="1182329"/>
            <a:ext cx="8738419" cy="3891116"/>
          </a:xfrm>
        </p:spPr>
        <p:txBody>
          <a:bodyPr vert="horz" wrap="square" lIns="91440" tIns="45720" rIns="91440" bIns="45720" anchor="t" anchorCtr="0"/>
          <a:lstStyle/>
          <a:p>
            <a:pPr eaLnBrk="1" hangingPunct="1">
              <a:buClrTx/>
              <a:buSzTx/>
            </a:pPr>
            <a:r>
              <a:rPr lang="en-US" b="1" dirty="0">
                <a:solidFill>
                  <a:schemeClr val="bg1"/>
                </a:solidFill>
                <a:latin typeface="Times New Roman" panose="02020603050405020304" pitchFamily="18" charset="0"/>
                <a:cs typeface="Times New Roman" panose="02020603050405020304" pitchFamily="18" charset="0"/>
              </a:rPr>
              <a:t>PROJECT TITLE</a:t>
            </a:r>
            <a:endParaRPr lang="en-US" altLang="en-US" sz="20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eaLnBrk="1" hangingPunct="1">
              <a:buClrTx/>
              <a:buSzTx/>
            </a:pPr>
            <a:endParaRPr lang="en-GB" sz="2000" b="1" noProof="0" dirty="0">
              <a:solidFill>
                <a:schemeClr val="bg1"/>
              </a:solidFill>
              <a:latin typeface="Times New Roman" panose="02020603050405020304" pitchFamily="18" charset="0"/>
              <a:ea typeface="Times New Roman" panose="02020603050405020304" pitchFamily="18" charset="0"/>
            </a:endParaRPr>
          </a:p>
          <a:p>
            <a:pPr eaLnBrk="1" hangingPunct="1"/>
            <a:r>
              <a:rPr lang="en-GB" sz="2000" b="1" dirty="0">
                <a:solidFill>
                  <a:schemeClr val="bg1"/>
                </a:solidFill>
                <a:latin typeface="Times New Roman" panose="02020603050405020304" pitchFamily="18" charset="0"/>
                <a:ea typeface="Times New Roman" panose="02020603050405020304" pitchFamily="18" charset="0"/>
              </a:rPr>
              <a:t>NAME</a:t>
            </a:r>
          </a:p>
          <a:p>
            <a:pPr eaLnBrk="1" hangingPunct="1"/>
            <a:r>
              <a:rPr lang="en-GB" sz="2000" b="1" noProof="0" dirty="0">
                <a:solidFill>
                  <a:schemeClr val="bg1"/>
                </a:solidFill>
                <a:latin typeface="Times New Roman" panose="02020603050405020304" pitchFamily="18" charset="0"/>
                <a:ea typeface="Times New Roman" panose="02020603050405020304" pitchFamily="18" charset="0"/>
              </a:rPr>
              <a:t>ID</a:t>
            </a:r>
          </a:p>
          <a:p>
            <a:pPr eaLnBrk="1" hangingPunct="1"/>
            <a:endParaRPr lang="en-GB" sz="2000" b="1" noProof="0" dirty="0">
              <a:solidFill>
                <a:schemeClr val="bg1"/>
              </a:solidFill>
              <a:latin typeface="Times New Roman" panose="02020603050405020304" pitchFamily="18" charset="0"/>
              <a:ea typeface="Times New Roman" panose="02020603050405020304" pitchFamily="18" charset="0"/>
            </a:endParaRPr>
          </a:p>
          <a:p>
            <a:pPr eaLnBrk="1" hangingPunct="1"/>
            <a:r>
              <a:rPr lang="en-GB" sz="1200" b="1" dirty="0">
                <a:solidFill>
                  <a:schemeClr val="bg1"/>
                </a:solidFill>
                <a:latin typeface="Times New Roman" panose="02020603050405020304" pitchFamily="18" charset="0"/>
                <a:ea typeface="Times New Roman" panose="02020603050405020304" pitchFamily="18" charset="0"/>
              </a:rPr>
              <a:t>SUPERVISOR:             19</a:t>
            </a:r>
            <a:r>
              <a:rPr lang="en-GB" sz="1200" b="1" baseline="30000" dirty="0">
                <a:solidFill>
                  <a:schemeClr val="bg1"/>
                </a:solidFill>
                <a:latin typeface="Times New Roman" panose="02020603050405020304" pitchFamily="18" charset="0"/>
                <a:ea typeface="Times New Roman" panose="02020603050405020304" pitchFamily="18" charset="0"/>
              </a:rPr>
              <a:t>TH</a:t>
            </a:r>
            <a:r>
              <a:rPr lang="en-GB" sz="1200" b="1" dirty="0">
                <a:solidFill>
                  <a:schemeClr val="bg1"/>
                </a:solidFill>
                <a:latin typeface="Times New Roman" panose="02020603050405020304" pitchFamily="18" charset="0"/>
                <a:ea typeface="Times New Roman" panose="02020603050405020304" pitchFamily="18" charset="0"/>
              </a:rPr>
              <a:t> SEPTEMBER 2025</a:t>
            </a:r>
            <a:endParaRPr lang="en-GB" sz="1200" b="1" noProof="0" dirty="0">
              <a:solidFill>
                <a:schemeClr val="bg1"/>
              </a:solidFill>
              <a:latin typeface="Times New Roman" panose="02020603050405020304" pitchFamily="18" charset="0"/>
              <a:ea typeface="Times New Roman" panose="02020603050405020304" pitchFamily="18" charset="0"/>
            </a:endParaRPr>
          </a:p>
        </p:txBody>
        <a:txBody>
          <a:bodyPr/>
          <a:lstStyle/>
          <a:p>
            <a:pPr>
              <a:defRPr lang="en-US" sz="1600" dirty="0" typeface="Outfit" b="1">
                <a:solidFill>
                  <a:srgbClr val="2E7D32"/>
                </a:solidFill>
              </a:defRPr>
            </a:pPr>
            <a:r>
              <a:rPr lang="en-US" sz="1600" dirty="0" typeface="Outfit" b="1">
                <a:solidFill>
                  <a:srgbClr val="2E7D32"/>
                </a:solidFill>
              </a:rPr>
              <a:t xml:space="preserve">Verification (functional correctness)</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All 29 screens compile and route correctly; TypeScript strict check passes with zero errors (tsc --noEmit).</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Every button wired to a screen was traced: dashboard → notifications, feed, explore, clubs; scan → checkpoint detail; clubs → club detail + leaderboard; leaderboard → back; admin → club/challenge management UI.</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Scan result computation verified against the formula points = base_points × DIFFICULTY_MULTIPLIER[difficulty]; demo mode returns the same values a live Supabase RPC would.</a:t>
            </a:r>
          </a:p>
          <a:p>
            <a:pPr>
              <a:defRPr lang="en-US" sz="600" dirty="0" typeface="Outfit"/>
            </a:pPr>
            <a:r>
              <a:rPr lang="en-US" sz="600" dirty="0" typeface="Outfit"/>
              <a:t xml:space="preserve"/>
            </a:r>
          </a:p>
          <a:p>
            <a:pPr>
              <a:defRPr lang="en-US" sz="1600" dirty="0" typeface="Outfit" b="1">
                <a:solidFill>
                  <a:srgbClr val="2E7D32"/>
                </a:solidFill>
              </a:defRPr>
            </a:pPr>
            <a:r>
              <a:rPr lang="en-US" sz="1600" dirty="0" typeface="Outfit" b="1">
                <a:solidFill>
                  <a:srgbClr val="2E7D32"/>
                </a:solidFill>
              </a:rPr>
              <a:t xml:space="preserve">Fidelity to design (visual &amp; interaction)</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Matches the Stitch-ported screens (01–20) and the thesis gamification screens (Scan, Leaderboard, Badges, Admin) under one consistent design system — same tokens, same type scale, same card language.</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Responsive down to small phones: container padding (px-container-padding), responsive type (headline-lg-mobile), flex/grid layouts that reflow, and bottom nav hidden on fullscreen screens.</a:t>
            </a:r>
          </a:p>
          <a:p>
            <a:pPr>
              <a:defRPr lang="en-US" sz="600" dirty="0" typeface="Outfit"/>
            </a:pPr>
            <a:r>
              <a:rPr lang="en-US" sz="600" dirty="0" typeface="Outfit"/>
              <a:t xml:space="preserve"/>
            </a:r>
          </a:p>
          <a:p>
            <a:pPr>
              <a:defRPr lang="en-US" sz="1600" dirty="0" typeface="Outfit" b="1">
                <a:solidFill>
                  <a:srgbClr val="2E7D32"/>
                </a:solidFill>
              </a:defRPr>
            </a:pPr>
            <a:r>
              <a:rPr lang="en-US" sz="1600" dirty="0" typeface="Outfit" b="1">
                <a:solidFill>
                  <a:srgbClr val="2E7D32"/>
                </a:solidFill>
              </a:rPr>
              <a:t xml:space="preserve">Performance</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Build: Vite + rolldown produces ~490 KB JS (≈144 KB gzipped) and ~58 KB CSS (≈11 KB gzipped) — within mobile budgets for a first-load PWA shell.</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PWA precaches the shell and key routes; subsequent loads are from the cache, reducing network dependence in low-connectivity campus zones.</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No per-screen layout thrash: animations are CSS-only (fade-up, scale-90/95 active states), no runtime JS layout recalculation on tap.</a:t>
            </a:r>
          </a:p>
          <a:p>
            <a:pPr>
              <a:defRPr lang="en-US" sz="600" dirty="0" typeface="Outfit"/>
            </a:pPr>
            <a:r>
              <a:rPr lang="en-US" sz="600" dirty="0" typeface="Outfit"/>
              <a:t xml:space="preserve"/>
            </a:r>
          </a:p>
          <a:p>
            <a:pPr>
              <a:defRPr lang="en-US" sz="1600" dirty="0" typeface="Outfit" b="1">
                <a:solidFill>
                  <a:srgbClr val="2E7D32"/>
                </a:solidFill>
              </a:defRPr>
            </a:pPr>
            <a:r>
              <a:rPr lang="en-US" sz="1600" dirty="0" typeface="Outfit" b="1">
                <a:solidFill>
                  <a:srgbClr val="2E7D32"/>
                </a:solidFill>
              </a:rPr>
              <a:t xml:space="preserve">Reward Economy</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Difficulty multipliers: Easy ×1, Medium ×1.5, Hard ×2, Epic ×3 — checkpoint points scale with effort, so the economy rewards harder routes without making easy ones worthless.</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Badges gate on observable milestones: first scan (first_steps), 5 checkpoints (explorer), 2500 points (points_2500), 7-day streak (streak_7) — tying the economy to sustained behaviour, not one-off bursts.</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Club challenges add a collective goal dimension: a club at 75% completion with 2 days left is visible on the dashboard, creating shared pressure to close the gap.</a:t>
            </a:r>
          </a:p>
          <a:p>
            <a:pPr marL="342900" indent="-228600">
              <a:buFont typeface="Arial"/>
              <a:buChar char="•"/>
              <a:defRPr lang="en-US" sz="1400" typeface="Outfit" dirty="0">
                <a:solidFill>
                  <a:srgbClr val="1A1A1A"/>
                </a:solidFill>
              </a:defRPr>
            </a:pPr>
            <a:r>
              <a:rPr lang="en-US" sz="1400" typeface="Outfit" dirty="0">
                <a:solidFill>
                  <a:srgbClr val="1A1A1A"/>
                </a:solidFill>
              </a:rPr>
              <a:t xml:space="preserve"> Demo-data sanity check: three seeded profiles (admin, two students) share the same club/leaderboard/club-challenge numbers everywhere they appear, so the economy story is internally coherent across screens.</a:t>
            </a:r>
          </a:p>
        </a:txBody>
      </p:sp>
      <p:sp>
        <p:nvSpPr>
          <p:cNvPr id="2" name="Date Placeholder 1"/>
          <p:cNvSpPr>
            <a:spLocks noGrp="1"/>
          </p:cNvSpPr>
          <p:nvPr>
            <p:ph type="dt" sz="half" idx="10"/>
          </p:nvPr>
        </p:nvSpPr>
        <p:spPr/>
        <p:txBody>
          <a:bodyPr/>
          <a:lstStyle/>
          <a:p>
            <a:pPr fontAlgn="base">
              <a:spcBef>
                <a:spcPct val="0"/>
              </a:spcBef>
              <a:spcAft>
                <a:spcPct val="0"/>
              </a:spcAft>
              <a:defRPr/>
            </a:pPr>
            <a:fld id="{CBB6B13C-08B2-4F48-BEC8-EC2633766FDF}" type="datetime1">
              <a:rPr lang="en-US">
                <a:latin typeface="Calibri" panose="020F0502020204030204" pitchFamily="34" charset="0"/>
                <a:ea typeface="MS PGothic" panose="020B0600070205080204" pitchFamily="34" charset="-128"/>
              </a:rPr>
              <a:pPr fontAlgn="base">
                <a:spcBef>
                  <a:spcPct val="0"/>
                </a:spcBef>
                <a:spcAft>
                  <a:spcPct val="0"/>
                </a:spcAft>
                <a:defRPr/>
              </a:pPr>
              <a:t>9/15/2025</a:t>
            </a:fld>
            <a:endParaRPr lang="en-US">
              <a:latin typeface="Calibri" panose="020F0502020204030204" pitchFamily="34" charset="0"/>
              <a:ea typeface="MS PGothic" panose="020B0600070205080204" pitchFamily="34" charset="-128"/>
            </a:endParaRPr>
          </a:p>
        </p:txBody>
      </p:sp>
      <p:sp>
        <p:nvSpPr>
          <p:cNvPr id="4" name="Slide Number Placeholder 3"/>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a:latin typeface="Calibri" panose="020F0502020204030204" pitchFamily="34" charset="0"/>
                <a:ea typeface="MS PGothic" panose="020B0600070205080204" pitchFamily="34" charset="-128"/>
              </a:rPr>
              <a:pPr fontAlgn="base">
                <a:spcBef>
                  <a:spcPct val="0"/>
                </a:spcBef>
                <a:spcAft>
                  <a:spcPct val="0"/>
                </a:spcAft>
                <a:defRPr/>
              </a:pPr>
              <a:t>8</a:t>
            </a:fld>
            <a:endParaRPr lang="en-US" altLang="en-US" dirty="0">
              <a:latin typeface="Calibri" panose="020F0502020204030204" pitchFamily="34" charset="0"/>
              <a:ea typeface="MS PGothic" panose="020B0600070205080204" pitchFamily="34" charset="-128"/>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1128</Words>
  <Application>Microsoft Office PowerPoint</Application>
  <PresentationFormat>Widescreen</PresentationFormat>
  <Paragraphs>103</Paragraphs>
  <Slides>8</Slides>
  <Notes>7</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8</vt:i4>
      </vt:variant>
    </vt:vector>
  </HeadingPairs>
  <TitlesOfParts>
    <vt:vector size="16" baseType="lpstr">
      <vt:lpstr>MS PGothic</vt:lpstr>
      <vt:lpstr>Aptos</vt:lpstr>
      <vt:lpstr>Aptos Display</vt:lpstr>
      <vt:lpstr>Arial</vt:lpstr>
      <vt:lpstr>Calibri</vt:lpstr>
      <vt:lpstr>Times New Roman</vt:lpstr>
      <vt:lpstr>Office Theme</vt:lpstr>
      <vt:lpstr>1_Office Theme</vt:lpstr>
      <vt:lpstr>FINAL YEAR PROJECT PRESENTATION &amp; DEMO </vt:lpstr>
      <vt:lpstr>OUTLINE OF  PRESENTATION</vt:lpstr>
      <vt:lpstr>Introduction</vt:lpstr>
      <vt:lpstr>Aims and Objectives</vt:lpstr>
      <vt:lpstr>Related Work</vt:lpstr>
      <vt:lpstr>Proposed Solution</vt:lpstr>
      <vt:lpstr>End Slide</vt:lpstr>
      <vt:lpstr>FINAL YEAR PROJECT PRESENTATION &amp; DEMO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Prempeh Sharon</dc:creator>
  <cp:lastModifiedBy>Prempeh Sharon</cp:lastModifiedBy>
  <cp:revision>1</cp:revision>
  <dcterms:created xsi:type="dcterms:W3CDTF">2025-09-15T15:38:40Z</dcterms:created>
  <dcterms:modified xsi:type="dcterms:W3CDTF">2025-09-15T15:40:01Z</dcterms:modified>
</cp:coreProperties>
</file>